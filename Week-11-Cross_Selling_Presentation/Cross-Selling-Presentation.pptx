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9" r:id="rId2"/>
    <p:sldId id="282" r:id="rId3"/>
    <p:sldId id="257" r:id="rId4"/>
    <p:sldId id="283" r:id="rId5"/>
    <p:sldId id="284" r:id="rId6"/>
    <p:sldId id="285" r:id="rId7"/>
    <p:sldId id="286" r:id="rId8"/>
    <p:sldId id="287" r:id="rId9"/>
    <p:sldId id="288" r:id="rId10"/>
    <p:sldId id="289" r:id="rId11"/>
    <p:sldId id="290" r:id="rId12"/>
    <p:sldId id="291" r:id="rId13"/>
    <p:sldId id="292" r:id="rId14"/>
    <p:sldId id="293" r:id="rId15"/>
    <p:sldId id="294" r:id="rId16"/>
    <p:sldId id="272" r:id="rId17"/>
    <p:sldId id="297" r:id="rId18"/>
    <p:sldId id="28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64" userDrawn="1">
          <p15:clr>
            <a:srgbClr val="A4A3A4"/>
          </p15:clr>
        </p15:guide>
        <p15:guide id="2" pos="4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008"/>
    <p:restoredTop sz="94681"/>
  </p:normalViewPr>
  <p:slideViewPr>
    <p:cSldViewPr snapToGrid="0" snapToObjects="1" showGuides="1">
      <p:cViewPr varScale="1">
        <p:scale>
          <a:sx n="69" d="100"/>
          <a:sy n="69" d="100"/>
        </p:scale>
        <p:origin x="84" y="198"/>
      </p:cViewPr>
      <p:guideLst>
        <p:guide orient="horz" pos="864"/>
        <p:guide pos="4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DAD4F-D51A-CE4F-9BF4-64AFA81858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8D6271-9D96-0A4B-87B3-E1D50974D1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EC1E53-AA61-CF45-A38E-0EFB66CC5297}"/>
              </a:ext>
            </a:extLst>
          </p:cNvPr>
          <p:cNvSpPr>
            <a:spLocks noGrp="1"/>
          </p:cNvSpPr>
          <p:nvPr>
            <p:ph type="dt" sz="half" idx="10"/>
          </p:nvPr>
        </p:nvSpPr>
        <p:spPr/>
        <p:txBody>
          <a:bodyPr/>
          <a:lstStyle/>
          <a:p>
            <a:fld id="{6EECE964-F870-0E41-9FE5-38142943DD71}" type="datetimeFigureOut">
              <a:rPr lang="en-US" smtClean="0"/>
              <a:t>5/16/2023</a:t>
            </a:fld>
            <a:endParaRPr lang="en-US"/>
          </a:p>
        </p:txBody>
      </p:sp>
      <p:sp>
        <p:nvSpPr>
          <p:cNvPr id="5" name="Footer Placeholder 4">
            <a:extLst>
              <a:ext uri="{FF2B5EF4-FFF2-40B4-BE49-F238E27FC236}">
                <a16:creationId xmlns:a16="http://schemas.microsoft.com/office/drawing/2014/main" id="{6A2C1131-FC34-874C-8883-D359C253FE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8D701F-03D9-D947-93D4-B9ECB20FA296}"/>
              </a:ext>
            </a:extLst>
          </p:cNvPr>
          <p:cNvSpPr>
            <a:spLocks noGrp="1"/>
          </p:cNvSpPr>
          <p:nvPr>
            <p:ph type="sldNum" sz="quarter" idx="12"/>
          </p:nvPr>
        </p:nvSpPr>
        <p:spPr/>
        <p:txBody>
          <a:bodyPr/>
          <a:lstStyle/>
          <a:p>
            <a:fld id="{F3281B17-8789-6B4C-B449-7FC9CCFFE3A3}" type="slidenum">
              <a:rPr lang="en-US" smtClean="0"/>
              <a:t>‹#›</a:t>
            </a:fld>
            <a:endParaRPr lang="en-US"/>
          </a:p>
        </p:txBody>
      </p:sp>
    </p:spTree>
    <p:extLst>
      <p:ext uri="{BB962C8B-B14F-4D97-AF65-F5344CB8AC3E}">
        <p14:creationId xmlns:p14="http://schemas.microsoft.com/office/powerpoint/2010/main" val="215589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6CB00-50B4-C942-A899-D1451AEC75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1941D0-1D38-5641-A2DD-950EB427D48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CA9207-0D28-D342-816D-F8EDA3DD0694}"/>
              </a:ext>
            </a:extLst>
          </p:cNvPr>
          <p:cNvSpPr>
            <a:spLocks noGrp="1"/>
          </p:cNvSpPr>
          <p:nvPr>
            <p:ph type="dt" sz="half" idx="10"/>
          </p:nvPr>
        </p:nvSpPr>
        <p:spPr/>
        <p:txBody>
          <a:bodyPr/>
          <a:lstStyle/>
          <a:p>
            <a:fld id="{6EECE964-F870-0E41-9FE5-38142943DD71}" type="datetimeFigureOut">
              <a:rPr lang="en-US" smtClean="0"/>
              <a:t>5/16/2023</a:t>
            </a:fld>
            <a:endParaRPr lang="en-US"/>
          </a:p>
        </p:txBody>
      </p:sp>
      <p:sp>
        <p:nvSpPr>
          <p:cNvPr id="5" name="Footer Placeholder 4">
            <a:extLst>
              <a:ext uri="{FF2B5EF4-FFF2-40B4-BE49-F238E27FC236}">
                <a16:creationId xmlns:a16="http://schemas.microsoft.com/office/drawing/2014/main" id="{C52E771C-66A5-F041-A46C-C8042E9B2D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0D90BC-0A56-804B-997F-5C305234F939}"/>
              </a:ext>
            </a:extLst>
          </p:cNvPr>
          <p:cNvSpPr>
            <a:spLocks noGrp="1"/>
          </p:cNvSpPr>
          <p:nvPr>
            <p:ph type="sldNum" sz="quarter" idx="12"/>
          </p:nvPr>
        </p:nvSpPr>
        <p:spPr/>
        <p:txBody>
          <a:bodyPr/>
          <a:lstStyle/>
          <a:p>
            <a:fld id="{F3281B17-8789-6B4C-B449-7FC9CCFFE3A3}" type="slidenum">
              <a:rPr lang="en-US" smtClean="0"/>
              <a:t>‹#›</a:t>
            </a:fld>
            <a:endParaRPr lang="en-US"/>
          </a:p>
        </p:txBody>
      </p:sp>
    </p:spTree>
    <p:extLst>
      <p:ext uri="{BB962C8B-B14F-4D97-AF65-F5344CB8AC3E}">
        <p14:creationId xmlns:p14="http://schemas.microsoft.com/office/powerpoint/2010/main" val="2795187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A685D-7B5A-5E41-8EAF-429769BBED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5B8E63-14F0-7C4B-B839-27AD382C12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05C28A9-C0DF-B94F-819D-731A164011C5}"/>
              </a:ext>
            </a:extLst>
          </p:cNvPr>
          <p:cNvSpPr>
            <a:spLocks noGrp="1"/>
          </p:cNvSpPr>
          <p:nvPr>
            <p:ph type="dt" sz="half" idx="10"/>
          </p:nvPr>
        </p:nvSpPr>
        <p:spPr/>
        <p:txBody>
          <a:bodyPr/>
          <a:lstStyle/>
          <a:p>
            <a:fld id="{6EECE964-F870-0E41-9FE5-38142943DD71}" type="datetimeFigureOut">
              <a:rPr lang="en-US" smtClean="0"/>
              <a:t>5/16/2023</a:t>
            </a:fld>
            <a:endParaRPr lang="en-US"/>
          </a:p>
        </p:txBody>
      </p:sp>
      <p:sp>
        <p:nvSpPr>
          <p:cNvPr id="5" name="Footer Placeholder 4">
            <a:extLst>
              <a:ext uri="{FF2B5EF4-FFF2-40B4-BE49-F238E27FC236}">
                <a16:creationId xmlns:a16="http://schemas.microsoft.com/office/drawing/2014/main" id="{4F91BED9-C99D-BE4D-9E2E-9FD6D57554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2CCAB-C2B6-9044-BAF6-D8EB23480AF3}"/>
              </a:ext>
            </a:extLst>
          </p:cNvPr>
          <p:cNvSpPr>
            <a:spLocks noGrp="1"/>
          </p:cNvSpPr>
          <p:nvPr>
            <p:ph type="sldNum" sz="quarter" idx="12"/>
          </p:nvPr>
        </p:nvSpPr>
        <p:spPr/>
        <p:txBody>
          <a:bodyPr/>
          <a:lstStyle/>
          <a:p>
            <a:fld id="{F3281B17-8789-6B4C-B449-7FC9CCFFE3A3}" type="slidenum">
              <a:rPr lang="en-US" smtClean="0"/>
              <a:t>‹#›</a:t>
            </a:fld>
            <a:endParaRPr lang="en-US"/>
          </a:p>
        </p:txBody>
      </p:sp>
    </p:spTree>
    <p:extLst>
      <p:ext uri="{BB962C8B-B14F-4D97-AF65-F5344CB8AC3E}">
        <p14:creationId xmlns:p14="http://schemas.microsoft.com/office/powerpoint/2010/main" val="1740454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29899-9E7E-1742-A79B-21918FC451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5C688A-9CC3-EE42-B095-6BC65AB6273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3497AD-DF30-1C4D-BD19-B214491212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56D767-4E38-C442-8372-77A1B64EFA8A}"/>
              </a:ext>
            </a:extLst>
          </p:cNvPr>
          <p:cNvSpPr>
            <a:spLocks noGrp="1"/>
          </p:cNvSpPr>
          <p:nvPr>
            <p:ph type="dt" sz="half" idx="10"/>
          </p:nvPr>
        </p:nvSpPr>
        <p:spPr/>
        <p:txBody>
          <a:bodyPr/>
          <a:lstStyle/>
          <a:p>
            <a:fld id="{6EECE964-F870-0E41-9FE5-38142943DD71}" type="datetimeFigureOut">
              <a:rPr lang="en-US" smtClean="0"/>
              <a:t>5/16/2023</a:t>
            </a:fld>
            <a:endParaRPr lang="en-US"/>
          </a:p>
        </p:txBody>
      </p:sp>
      <p:sp>
        <p:nvSpPr>
          <p:cNvPr id="6" name="Footer Placeholder 5">
            <a:extLst>
              <a:ext uri="{FF2B5EF4-FFF2-40B4-BE49-F238E27FC236}">
                <a16:creationId xmlns:a16="http://schemas.microsoft.com/office/drawing/2014/main" id="{A0816581-5322-A847-976F-D94A69B11E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309BF-49E6-3747-B55B-94BC01967BAB}"/>
              </a:ext>
            </a:extLst>
          </p:cNvPr>
          <p:cNvSpPr>
            <a:spLocks noGrp="1"/>
          </p:cNvSpPr>
          <p:nvPr>
            <p:ph type="sldNum" sz="quarter" idx="12"/>
          </p:nvPr>
        </p:nvSpPr>
        <p:spPr/>
        <p:txBody>
          <a:bodyPr/>
          <a:lstStyle/>
          <a:p>
            <a:fld id="{F3281B17-8789-6B4C-B449-7FC9CCFFE3A3}" type="slidenum">
              <a:rPr lang="en-US" smtClean="0"/>
              <a:t>‹#›</a:t>
            </a:fld>
            <a:endParaRPr lang="en-US"/>
          </a:p>
        </p:txBody>
      </p:sp>
    </p:spTree>
    <p:extLst>
      <p:ext uri="{BB962C8B-B14F-4D97-AF65-F5344CB8AC3E}">
        <p14:creationId xmlns:p14="http://schemas.microsoft.com/office/powerpoint/2010/main" val="233903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A2536-1DE4-7A47-A386-016FBA94353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C83851-2E77-EC44-83BD-05390C2BB2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C6A16C2-2051-BA40-9C17-A1802E31123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72B78F-B765-8E49-9E78-1AC1408F19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DE434D3-6A0A-4D4A-84FB-CCE23E3640A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440FB1-D9CC-0B49-AE9F-5878A0AAB48F}"/>
              </a:ext>
            </a:extLst>
          </p:cNvPr>
          <p:cNvSpPr>
            <a:spLocks noGrp="1"/>
          </p:cNvSpPr>
          <p:nvPr>
            <p:ph type="dt" sz="half" idx="10"/>
          </p:nvPr>
        </p:nvSpPr>
        <p:spPr/>
        <p:txBody>
          <a:bodyPr/>
          <a:lstStyle/>
          <a:p>
            <a:fld id="{6EECE964-F870-0E41-9FE5-38142943DD71}" type="datetimeFigureOut">
              <a:rPr lang="en-US" smtClean="0"/>
              <a:t>5/16/2023</a:t>
            </a:fld>
            <a:endParaRPr lang="en-US"/>
          </a:p>
        </p:txBody>
      </p:sp>
      <p:sp>
        <p:nvSpPr>
          <p:cNvPr id="8" name="Footer Placeholder 7">
            <a:extLst>
              <a:ext uri="{FF2B5EF4-FFF2-40B4-BE49-F238E27FC236}">
                <a16:creationId xmlns:a16="http://schemas.microsoft.com/office/drawing/2014/main" id="{4FB40F16-A558-2D4E-B42F-388ED6F866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639D33-CB03-E541-92B0-F417F7EE4E1B}"/>
              </a:ext>
            </a:extLst>
          </p:cNvPr>
          <p:cNvSpPr>
            <a:spLocks noGrp="1"/>
          </p:cNvSpPr>
          <p:nvPr>
            <p:ph type="sldNum" sz="quarter" idx="12"/>
          </p:nvPr>
        </p:nvSpPr>
        <p:spPr/>
        <p:txBody>
          <a:bodyPr/>
          <a:lstStyle/>
          <a:p>
            <a:fld id="{F3281B17-8789-6B4C-B449-7FC9CCFFE3A3}" type="slidenum">
              <a:rPr lang="en-US" smtClean="0"/>
              <a:t>‹#›</a:t>
            </a:fld>
            <a:endParaRPr lang="en-US"/>
          </a:p>
        </p:txBody>
      </p:sp>
    </p:spTree>
    <p:extLst>
      <p:ext uri="{BB962C8B-B14F-4D97-AF65-F5344CB8AC3E}">
        <p14:creationId xmlns:p14="http://schemas.microsoft.com/office/powerpoint/2010/main" val="2545255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D11CA-FD74-5442-BF71-1E4931CA79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2041D4-0DBE-7A43-897B-B22E0E2546D0}"/>
              </a:ext>
            </a:extLst>
          </p:cNvPr>
          <p:cNvSpPr>
            <a:spLocks noGrp="1"/>
          </p:cNvSpPr>
          <p:nvPr>
            <p:ph type="dt" sz="half" idx="10"/>
          </p:nvPr>
        </p:nvSpPr>
        <p:spPr/>
        <p:txBody>
          <a:bodyPr/>
          <a:lstStyle/>
          <a:p>
            <a:fld id="{6EECE964-F870-0E41-9FE5-38142943DD71}" type="datetimeFigureOut">
              <a:rPr lang="en-US" smtClean="0"/>
              <a:t>5/16/2023</a:t>
            </a:fld>
            <a:endParaRPr lang="en-US"/>
          </a:p>
        </p:txBody>
      </p:sp>
      <p:sp>
        <p:nvSpPr>
          <p:cNvPr id="4" name="Footer Placeholder 3">
            <a:extLst>
              <a:ext uri="{FF2B5EF4-FFF2-40B4-BE49-F238E27FC236}">
                <a16:creationId xmlns:a16="http://schemas.microsoft.com/office/drawing/2014/main" id="{5850DBF2-E963-E942-A045-ECDCDF198B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DC782F-97A5-4445-ADD2-16A5A997DB90}"/>
              </a:ext>
            </a:extLst>
          </p:cNvPr>
          <p:cNvSpPr>
            <a:spLocks noGrp="1"/>
          </p:cNvSpPr>
          <p:nvPr>
            <p:ph type="sldNum" sz="quarter" idx="12"/>
          </p:nvPr>
        </p:nvSpPr>
        <p:spPr/>
        <p:txBody>
          <a:bodyPr/>
          <a:lstStyle/>
          <a:p>
            <a:fld id="{F3281B17-8789-6B4C-B449-7FC9CCFFE3A3}" type="slidenum">
              <a:rPr lang="en-US" smtClean="0"/>
              <a:t>‹#›</a:t>
            </a:fld>
            <a:endParaRPr lang="en-US"/>
          </a:p>
        </p:txBody>
      </p:sp>
    </p:spTree>
    <p:extLst>
      <p:ext uri="{BB962C8B-B14F-4D97-AF65-F5344CB8AC3E}">
        <p14:creationId xmlns:p14="http://schemas.microsoft.com/office/powerpoint/2010/main" val="2596354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7550D9-34E2-494D-8F81-DD79230EAE06}"/>
              </a:ext>
            </a:extLst>
          </p:cNvPr>
          <p:cNvSpPr>
            <a:spLocks noGrp="1"/>
          </p:cNvSpPr>
          <p:nvPr>
            <p:ph type="dt" sz="half" idx="10"/>
          </p:nvPr>
        </p:nvSpPr>
        <p:spPr/>
        <p:txBody>
          <a:bodyPr/>
          <a:lstStyle/>
          <a:p>
            <a:fld id="{6EECE964-F870-0E41-9FE5-38142943DD71}" type="datetimeFigureOut">
              <a:rPr lang="en-US" smtClean="0"/>
              <a:t>5/16/2023</a:t>
            </a:fld>
            <a:endParaRPr lang="en-US"/>
          </a:p>
        </p:txBody>
      </p:sp>
      <p:sp>
        <p:nvSpPr>
          <p:cNvPr id="3" name="Footer Placeholder 2">
            <a:extLst>
              <a:ext uri="{FF2B5EF4-FFF2-40B4-BE49-F238E27FC236}">
                <a16:creationId xmlns:a16="http://schemas.microsoft.com/office/drawing/2014/main" id="{5B154BD3-48A6-5243-B89A-ABF7547EB5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5EA97B-F750-2B4F-B2F1-E76745D1244E}"/>
              </a:ext>
            </a:extLst>
          </p:cNvPr>
          <p:cNvSpPr>
            <a:spLocks noGrp="1"/>
          </p:cNvSpPr>
          <p:nvPr>
            <p:ph type="sldNum" sz="quarter" idx="12"/>
          </p:nvPr>
        </p:nvSpPr>
        <p:spPr/>
        <p:txBody>
          <a:bodyPr/>
          <a:lstStyle/>
          <a:p>
            <a:fld id="{F3281B17-8789-6B4C-B449-7FC9CCFFE3A3}" type="slidenum">
              <a:rPr lang="en-US" smtClean="0"/>
              <a:t>‹#›</a:t>
            </a:fld>
            <a:endParaRPr lang="en-US"/>
          </a:p>
        </p:txBody>
      </p:sp>
    </p:spTree>
    <p:extLst>
      <p:ext uri="{BB962C8B-B14F-4D97-AF65-F5344CB8AC3E}">
        <p14:creationId xmlns:p14="http://schemas.microsoft.com/office/powerpoint/2010/main" val="56589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4BA2-CCEF-9C4B-9341-1321C0582F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5366DF-94F2-014A-B39E-D158114395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22D09A-4A40-E841-8F70-E1D544E035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C227AEE-0B60-6343-B03C-96B10444F686}"/>
              </a:ext>
            </a:extLst>
          </p:cNvPr>
          <p:cNvSpPr>
            <a:spLocks noGrp="1"/>
          </p:cNvSpPr>
          <p:nvPr>
            <p:ph type="dt" sz="half" idx="10"/>
          </p:nvPr>
        </p:nvSpPr>
        <p:spPr/>
        <p:txBody>
          <a:bodyPr/>
          <a:lstStyle/>
          <a:p>
            <a:fld id="{6EECE964-F870-0E41-9FE5-38142943DD71}" type="datetimeFigureOut">
              <a:rPr lang="en-US" smtClean="0"/>
              <a:t>5/16/2023</a:t>
            </a:fld>
            <a:endParaRPr lang="en-US"/>
          </a:p>
        </p:txBody>
      </p:sp>
      <p:sp>
        <p:nvSpPr>
          <p:cNvPr id="6" name="Footer Placeholder 5">
            <a:extLst>
              <a:ext uri="{FF2B5EF4-FFF2-40B4-BE49-F238E27FC236}">
                <a16:creationId xmlns:a16="http://schemas.microsoft.com/office/drawing/2014/main" id="{FEEDEC06-105B-2E46-BC96-12B86D4185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9B33B3-3AB6-CA41-B81D-4E3D938DD9D7}"/>
              </a:ext>
            </a:extLst>
          </p:cNvPr>
          <p:cNvSpPr>
            <a:spLocks noGrp="1"/>
          </p:cNvSpPr>
          <p:nvPr>
            <p:ph type="sldNum" sz="quarter" idx="12"/>
          </p:nvPr>
        </p:nvSpPr>
        <p:spPr/>
        <p:txBody>
          <a:bodyPr/>
          <a:lstStyle/>
          <a:p>
            <a:fld id="{F3281B17-8789-6B4C-B449-7FC9CCFFE3A3}" type="slidenum">
              <a:rPr lang="en-US" smtClean="0"/>
              <a:t>‹#›</a:t>
            </a:fld>
            <a:endParaRPr lang="en-US"/>
          </a:p>
        </p:txBody>
      </p:sp>
    </p:spTree>
    <p:extLst>
      <p:ext uri="{BB962C8B-B14F-4D97-AF65-F5344CB8AC3E}">
        <p14:creationId xmlns:p14="http://schemas.microsoft.com/office/powerpoint/2010/main" val="2898183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51441-A4BA-BB44-8779-89F7828311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56B248-D1F2-2646-A192-94B788A8B7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90720E-5DD4-A642-9A31-CBA2963861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2F844B1-5331-5F40-92A8-DA2DCDF3BEBB}"/>
              </a:ext>
            </a:extLst>
          </p:cNvPr>
          <p:cNvSpPr>
            <a:spLocks noGrp="1"/>
          </p:cNvSpPr>
          <p:nvPr>
            <p:ph type="dt" sz="half" idx="10"/>
          </p:nvPr>
        </p:nvSpPr>
        <p:spPr/>
        <p:txBody>
          <a:bodyPr/>
          <a:lstStyle/>
          <a:p>
            <a:fld id="{6EECE964-F870-0E41-9FE5-38142943DD71}" type="datetimeFigureOut">
              <a:rPr lang="en-US" smtClean="0"/>
              <a:t>5/16/2023</a:t>
            </a:fld>
            <a:endParaRPr lang="en-US"/>
          </a:p>
        </p:txBody>
      </p:sp>
      <p:sp>
        <p:nvSpPr>
          <p:cNvPr id="6" name="Footer Placeholder 5">
            <a:extLst>
              <a:ext uri="{FF2B5EF4-FFF2-40B4-BE49-F238E27FC236}">
                <a16:creationId xmlns:a16="http://schemas.microsoft.com/office/drawing/2014/main" id="{DAFB5CF2-05E5-DE46-AD28-692F9DB716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A14854-AFC5-2349-BC93-AD9DF51264F9}"/>
              </a:ext>
            </a:extLst>
          </p:cNvPr>
          <p:cNvSpPr>
            <a:spLocks noGrp="1"/>
          </p:cNvSpPr>
          <p:nvPr>
            <p:ph type="sldNum" sz="quarter" idx="12"/>
          </p:nvPr>
        </p:nvSpPr>
        <p:spPr/>
        <p:txBody>
          <a:bodyPr/>
          <a:lstStyle/>
          <a:p>
            <a:fld id="{F3281B17-8789-6B4C-B449-7FC9CCFFE3A3}" type="slidenum">
              <a:rPr lang="en-US" smtClean="0"/>
              <a:t>‹#›</a:t>
            </a:fld>
            <a:endParaRPr lang="en-US"/>
          </a:p>
        </p:txBody>
      </p:sp>
    </p:spTree>
    <p:extLst>
      <p:ext uri="{BB962C8B-B14F-4D97-AF65-F5344CB8AC3E}">
        <p14:creationId xmlns:p14="http://schemas.microsoft.com/office/powerpoint/2010/main" val="1230115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4DA76-EFBB-F941-A966-1AB95DA793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7B00F2-99E1-2747-B65D-ED46D625D3D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61CB34-1F68-0142-B0FC-B44DF9F47878}"/>
              </a:ext>
            </a:extLst>
          </p:cNvPr>
          <p:cNvSpPr>
            <a:spLocks noGrp="1"/>
          </p:cNvSpPr>
          <p:nvPr>
            <p:ph type="dt" sz="half" idx="10"/>
          </p:nvPr>
        </p:nvSpPr>
        <p:spPr/>
        <p:txBody>
          <a:bodyPr/>
          <a:lstStyle/>
          <a:p>
            <a:fld id="{6EECE964-F870-0E41-9FE5-38142943DD71}" type="datetimeFigureOut">
              <a:rPr lang="en-US" smtClean="0"/>
              <a:t>5/16/2023</a:t>
            </a:fld>
            <a:endParaRPr lang="en-US"/>
          </a:p>
        </p:txBody>
      </p:sp>
      <p:sp>
        <p:nvSpPr>
          <p:cNvPr id="5" name="Footer Placeholder 4">
            <a:extLst>
              <a:ext uri="{FF2B5EF4-FFF2-40B4-BE49-F238E27FC236}">
                <a16:creationId xmlns:a16="http://schemas.microsoft.com/office/drawing/2014/main" id="{B14DD18D-202D-B54B-AE2B-6C0708781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43CD5-A658-2A4D-9439-1801C9D99458}"/>
              </a:ext>
            </a:extLst>
          </p:cNvPr>
          <p:cNvSpPr>
            <a:spLocks noGrp="1"/>
          </p:cNvSpPr>
          <p:nvPr>
            <p:ph type="sldNum" sz="quarter" idx="12"/>
          </p:nvPr>
        </p:nvSpPr>
        <p:spPr/>
        <p:txBody>
          <a:bodyPr/>
          <a:lstStyle/>
          <a:p>
            <a:fld id="{F3281B17-8789-6B4C-B449-7FC9CCFFE3A3}" type="slidenum">
              <a:rPr lang="en-US" smtClean="0"/>
              <a:t>‹#›</a:t>
            </a:fld>
            <a:endParaRPr lang="en-US"/>
          </a:p>
        </p:txBody>
      </p:sp>
    </p:spTree>
    <p:extLst>
      <p:ext uri="{BB962C8B-B14F-4D97-AF65-F5344CB8AC3E}">
        <p14:creationId xmlns:p14="http://schemas.microsoft.com/office/powerpoint/2010/main" val="1745636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71FCDC-919C-CA4C-A815-980B3A6288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7780B6-9946-8448-91F6-FFE2F314146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437C5F-BFDB-3E4B-9F8E-C05B1696F26B}"/>
              </a:ext>
            </a:extLst>
          </p:cNvPr>
          <p:cNvSpPr>
            <a:spLocks noGrp="1"/>
          </p:cNvSpPr>
          <p:nvPr>
            <p:ph type="dt" sz="half" idx="10"/>
          </p:nvPr>
        </p:nvSpPr>
        <p:spPr/>
        <p:txBody>
          <a:bodyPr/>
          <a:lstStyle/>
          <a:p>
            <a:fld id="{6EECE964-F870-0E41-9FE5-38142943DD71}" type="datetimeFigureOut">
              <a:rPr lang="en-US" smtClean="0"/>
              <a:t>5/16/2023</a:t>
            </a:fld>
            <a:endParaRPr lang="en-US"/>
          </a:p>
        </p:txBody>
      </p:sp>
      <p:sp>
        <p:nvSpPr>
          <p:cNvPr id="5" name="Footer Placeholder 4">
            <a:extLst>
              <a:ext uri="{FF2B5EF4-FFF2-40B4-BE49-F238E27FC236}">
                <a16:creationId xmlns:a16="http://schemas.microsoft.com/office/drawing/2014/main" id="{7EFF9A7B-A0EB-4B4D-AEB7-69CF137ED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FA1E11-39AB-3948-9FCB-6C9762451E2B}"/>
              </a:ext>
            </a:extLst>
          </p:cNvPr>
          <p:cNvSpPr>
            <a:spLocks noGrp="1"/>
          </p:cNvSpPr>
          <p:nvPr>
            <p:ph type="sldNum" sz="quarter" idx="12"/>
          </p:nvPr>
        </p:nvSpPr>
        <p:spPr/>
        <p:txBody>
          <a:bodyPr/>
          <a:lstStyle/>
          <a:p>
            <a:fld id="{F3281B17-8789-6B4C-B449-7FC9CCFFE3A3}" type="slidenum">
              <a:rPr lang="en-US" smtClean="0"/>
              <a:t>‹#›</a:t>
            </a:fld>
            <a:endParaRPr lang="en-US"/>
          </a:p>
        </p:txBody>
      </p:sp>
    </p:spTree>
    <p:extLst>
      <p:ext uri="{BB962C8B-B14F-4D97-AF65-F5344CB8AC3E}">
        <p14:creationId xmlns:p14="http://schemas.microsoft.com/office/powerpoint/2010/main" val="4040847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D3905A-E05F-754C-8F9F-A8D1000A32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80757D-7D59-B74F-B2FA-F4236D6F71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729EBB-89B5-F042-AECF-884D5A5ABB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ECE964-F870-0E41-9FE5-38142943DD71}" type="datetimeFigureOut">
              <a:rPr lang="en-US" smtClean="0"/>
              <a:t>5/16/2023</a:t>
            </a:fld>
            <a:endParaRPr lang="en-US"/>
          </a:p>
        </p:txBody>
      </p:sp>
      <p:sp>
        <p:nvSpPr>
          <p:cNvPr id="5" name="Footer Placeholder 4">
            <a:extLst>
              <a:ext uri="{FF2B5EF4-FFF2-40B4-BE49-F238E27FC236}">
                <a16:creationId xmlns:a16="http://schemas.microsoft.com/office/drawing/2014/main" id="{66FA4430-3170-3C4D-A968-03CE0D4A8B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8C085EA-4CCE-EE49-A933-CFF5955BDB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81B17-8789-6B4C-B449-7FC9CCFFE3A3}" type="slidenum">
              <a:rPr lang="en-US" smtClean="0"/>
              <a:t>‹#›</a:t>
            </a:fld>
            <a:endParaRPr lang="en-US"/>
          </a:p>
        </p:txBody>
      </p:sp>
    </p:spTree>
    <p:extLst>
      <p:ext uri="{BB962C8B-B14F-4D97-AF65-F5344CB8AC3E}">
        <p14:creationId xmlns:p14="http://schemas.microsoft.com/office/powerpoint/2010/main" val="18581024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Iandavidk/DataGlacier/tree/main/Week-11-Cross_Selling_Presentation" TargetMode="External"/><Relationship Id="rId2" Type="http://schemas.openxmlformats.org/officeDocument/2006/relationships/hyperlink" Target="mailto:eandavid6@gmail.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41DC996-1A4B-4D4F-A733-3A00E5ABC2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332" y="0"/>
            <a:ext cx="2325467" cy="2325467"/>
          </a:xfrm>
          <a:prstGeom prst="rect">
            <a:avLst/>
          </a:prstGeom>
        </p:spPr>
      </p:pic>
      <p:sp>
        <p:nvSpPr>
          <p:cNvPr id="11" name="TextBox 10">
            <a:extLst>
              <a:ext uri="{FF2B5EF4-FFF2-40B4-BE49-F238E27FC236}">
                <a16:creationId xmlns:a16="http://schemas.microsoft.com/office/drawing/2014/main" id="{00CC22B5-8500-2C45-91DE-A596A6DF1C3B}"/>
              </a:ext>
            </a:extLst>
          </p:cNvPr>
          <p:cNvSpPr txBox="1"/>
          <p:nvPr/>
        </p:nvSpPr>
        <p:spPr>
          <a:xfrm>
            <a:off x="870857" y="2380343"/>
            <a:ext cx="10297114" cy="3508653"/>
          </a:xfrm>
          <a:prstGeom prst="rect">
            <a:avLst/>
          </a:prstGeom>
          <a:solidFill>
            <a:schemeClr val="bg2">
              <a:lumMod val="25000"/>
            </a:schemeClr>
          </a:solidFill>
        </p:spPr>
        <p:txBody>
          <a:bodyPr wrap="none" rtlCol="0">
            <a:spAutoFit/>
          </a:bodyPr>
          <a:lstStyle/>
          <a:p>
            <a:r>
              <a:rPr lang="en-US" sz="6600" dirty="0">
                <a:solidFill>
                  <a:srgbClr val="FF6600"/>
                </a:solidFill>
              </a:rPr>
              <a:t>CROSS SELLING </a:t>
            </a:r>
          </a:p>
          <a:p>
            <a:r>
              <a:rPr lang="en-US" sz="6600" dirty="0">
                <a:solidFill>
                  <a:srgbClr val="FF6600"/>
                </a:solidFill>
              </a:rPr>
              <a:t>RECOMMENDATION PROJECT</a:t>
            </a:r>
          </a:p>
          <a:p>
            <a:r>
              <a:rPr lang="en-US" sz="2500" dirty="0">
                <a:solidFill>
                  <a:srgbClr val="FF6600"/>
                </a:solidFill>
              </a:rPr>
              <a:t>Virtual</a:t>
            </a:r>
            <a:r>
              <a:rPr lang="en-US" sz="2500" dirty="0"/>
              <a:t> </a:t>
            </a:r>
            <a:r>
              <a:rPr lang="en-US" sz="2500" dirty="0">
                <a:solidFill>
                  <a:srgbClr val="FF6600"/>
                </a:solidFill>
              </a:rPr>
              <a:t>Internship</a:t>
            </a:r>
          </a:p>
          <a:p>
            <a:endParaRPr lang="en-US" sz="4000" dirty="0"/>
          </a:p>
          <a:p>
            <a:r>
              <a:rPr lang="en-US" sz="2500" dirty="0">
                <a:solidFill>
                  <a:srgbClr val="FF6600"/>
                </a:solidFill>
              </a:rPr>
              <a:t>16-May-2023</a:t>
            </a:r>
          </a:p>
        </p:txBody>
      </p:sp>
    </p:spTree>
    <p:extLst>
      <p:ext uri="{BB962C8B-B14F-4D97-AF65-F5344CB8AC3E}">
        <p14:creationId xmlns:p14="http://schemas.microsoft.com/office/powerpoint/2010/main" val="149197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C5C5A3-2E84-0849-82EA-36D2326D3784}"/>
              </a:ext>
            </a:extLst>
          </p:cNvPr>
          <p:cNvSpPr>
            <a:spLocks noGrp="1"/>
          </p:cNvSpPr>
          <p:nvPr>
            <p:ph idx="1"/>
          </p:nvPr>
        </p:nvSpPr>
        <p:spPr>
          <a:xfrm>
            <a:off x="762000" y="1812608"/>
            <a:ext cx="10515600" cy="4351338"/>
          </a:xfrm>
        </p:spPr>
        <p:txBody>
          <a:bodyPr>
            <a:normAutofit/>
          </a:bodyPr>
          <a:lstStyle/>
          <a:p>
            <a:pPr marL="0" indent="0">
              <a:buNone/>
            </a:pPr>
            <a:r>
              <a:rPr lang="en-US" sz="2400" dirty="0"/>
              <a:t>Group Name: Individual</a:t>
            </a:r>
          </a:p>
          <a:p>
            <a:pPr marL="0" indent="0">
              <a:buNone/>
            </a:pPr>
            <a:r>
              <a:rPr lang="en-US" sz="2400" dirty="0"/>
              <a:t>Name: Ian </a:t>
            </a:r>
            <a:r>
              <a:rPr lang="en-US" sz="2400" dirty="0" err="1"/>
              <a:t>Kihara</a:t>
            </a:r>
            <a:r>
              <a:rPr lang="en-US" sz="2400" dirty="0"/>
              <a:t> </a:t>
            </a:r>
            <a:r>
              <a:rPr lang="en-US" sz="2400" dirty="0" err="1"/>
              <a:t>Wangui</a:t>
            </a:r>
            <a:endParaRPr lang="en-US" sz="2400" dirty="0"/>
          </a:p>
          <a:p>
            <a:pPr marL="0" indent="0">
              <a:buNone/>
            </a:pPr>
            <a:r>
              <a:rPr lang="en-US" sz="2400" dirty="0"/>
              <a:t>Email: </a:t>
            </a:r>
            <a:r>
              <a:rPr lang="en-US" sz="2400" dirty="0">
                <a:hlinkClick r:id="rId2"/>
              </a:rPr>
              <a:t>eandavid6@gmail.com</a:t>
            </a:r>
            <a:endParaRPr lang="en-US" sz="2400" dirty="0"/>
          </a:p>
          <a:p>
            <a:pPr marL="0" indent="0">
              <a:buNone/>
            </a:pPr>
            <a:r>
              <a:rPr lang="en-US" sz="2400" dirty="0"/>
              <a:t>Company: </a:t>
            </a:r>
            <a:r>
              <a:rPr lang="en-US" sz="2400" dirty="0" err="1"/>
              <a:t>DataGlacier</a:t>
            </a:r>
            <a:endParaRPr lang="en-US" sz="2400" dirty="0"/>
          </a:p>
          <a:p>
            <a:pPr marL="0" indent="0">
              <a:buNone/>
            </a:pPr>
            <a:r>
              <a:rPr lang="en-US" sz="2400" dirty="0"/>
              <a:t>Specialization: Data Analyst</a:t>
            </a:r>
          </a:p>
          <a:p>
            <a:pPr marL="0" indent="0">
              <a:buNone/>
            </a:pPr>
            <a:r>
              <a:rPr lang="en-US" sz="2400" dirty="0" err="1"/>
              <a:t>Github</a:t>
            </a:r>
            <a:r>
              <a:rPr lang="en-US" sz="2400" dirty="0"/>
              <a:t> Repo Link: </a:t>
            </a:r>
            <a:r>
              <a:rPr lang="en-US" sz="2400" dirty="0">
                <a:hlinkClick r:id="rId3"/>
              </a:rPr>
              <a:t>https://github.com/Iandavidk/DataGlacier/tree/main/Week-11-Cross_Selling_Presentation</a:t>
            </a:r>
            <a:endParaRPr lang="en-US" sz="2400" dirty="0"/>
          </a:p>
          <a:p>
            <a:pPr marL="0" indent="0">
              <a:buNone/>
            </a:pPr>
            <a:endParaRPr lang="en-US" sz="2400" dirty="0"/>
          </a:p>
        </p:txBody>
      </p:sp>
      <p:sp>
        <p:nvSpPr>
          <p:cNvPr id="4" name="Rectangle 3">
            <a:extLst>
              <a:ext uri="{FF2B5EF4-FFF2-40B4-BE49-F238E27FC236}">
                <a16:creationId xmlns:a16="http://schemas.microsoft.com/office/drawing/2014/main" id="{DD7B960C-F6E1-AE45-98A6-122DB2A97B5B}"/>
              </a:ext>
            </a:extLst>
          </p:cNvPr>
          <p:cNvSpPr/>
          <p:nvPr/>
        </p:nvSpPr>
        <p:spPr>
          <a:xfrm>
            <a:off x="0" y="0"/>
            <a:ext cx="12192000" cy="13716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C526CBCB-8ADA-0E48-96D7-11EEE40222DD}"/>
              </a:ext>
            </a:extLst>
          </p:cNvPr>
          <p:cNvSpPr>
            <a:spLocks noGrp="1"/>
          </p:cNvSpPr>
          <p:nvPr>
            <p:ph type="title"/>
          </p:nvPr>
        </p:nvSpPr>
        <p:spPr>
          <a:xfrm>
            <a:off x="838200" y="46037"/>
            <a:ext cx="10515600" cy="1325563"/>
          </a:xfrm>
        </p:spPr>
        <p:txBody>
          <a:bodyPr>
            <a:normAutofit/>
          </a:bodyPr>
          <a:lstStyle/>
          <a:p>
            <a:r>
              <a:rPr lang="en-US" sz="3500" b="1" dirty="0">
                <a:solidFill>
                  <a:schemeClr val="accent2"/>
                </a:solidFill>
                <a:latin typeface="Calibri" panose="020F0502020204030204" pitchFamily="34" charset="0"/>
                <a:cs typeface="Calibri" panose="020F0502020204030204" pitchFamily="34" charset="0"/>
              </a:rPr>
              <a:t>Team Member’s Details</a:t>
            </a:r>
          </a:p>
        </p:txBody>
      </p:sp>
    </p:spTree>
    <p:extLst>
      <p:ext uri="{BB962C8B-B14F-4D97-AF65-F5344CB8AC3E}">
        <p14:creationId xmlns:p14="http://schemas.microsoft.com/office/powerpoint/2010/main" val="3163302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C5C5A3-2E84-0849-82EA-36D2326D3784}"/>
              </a:ext>
            </a:extLst>
          </p:cNvPr>
          <p:cNvSpPr>
            <a:spLocks noGrp="1"/>
          </p:cNvSpPr>
          <p:nvPr>
            <p:ph idx="1"/>
          </p:nvPr>
        </p:nvSpPr>
        <p:spPr>
          <a:xfrm>
            <a:off x="762000" y="1812608"/>
            <a:ext cx="10515600" cy="4351338"/>
          </a:xfrm>
        </p:spPr>
        <p:txBody>
          <a:bodyPr>
            <a:normAutofit/>
          </a:bodyPr>
          <a:lstStyle/>
          <a:p>
            <a:r>
              <a:rPr lang="en-US" sz="2400" dirty="0"/>
              <a:t>XYZ credit union in Latin America is performing very well in selling the Banking products (</a:t>
            </a:r>
            <a:r>
              <a:rPr lang="en-US" sz="2400" dirty="0" err="1"/>
              <a:t>eg</a:t>
            </a:r>
            <a:r>
              <a:rPr lang="en-US" sz="2400" dirty="0"/>
              <a:t>: Credit card, deposit account, retirement account, safe deposit box </a:t>
            </a:r>
            <a:r>
              <a:rPr lang="en-US" sz="2400" dirty="0" err="1"/>
              <a:t>etc</a:t>
            </a:r>
            <a:r>
              <a:rPr lang="en-US" sz="2400" dirty="0"/>
              <a:t>) but their existing customer is not </a:t>
            </a:r>
            <a:r>
              <a:rPr lang="en-US" sz="2400" dirty="0" err="1"/>
              <a:t>not</a:t>
            </a:r>
            <a:r>
              <a:rPr lang="en-US" sz="2400" dirty="0"/>
              <a:t> buying more than 1 product.</a:t>
            </a:r>
          </a:p>
          <a:p>
            <a:r>
              <a:rPr lang="en-US" sz="2400" dirty="0"/>
              <a:t>This means XYZ Credit Union is not performing good in cross selling (Bank is not able to sell their other offerings to existing customer). XYZ Credit Union decided to approach ABC analytics to solve their problem.</a:t>
            </a:r>
          </a:p>
          <a:p>
            <a:r>
              <a:rPr lang="en-US" sz="2400" b="1" dirty="0"/>
              <a:t>Objective : As a data analyst at ABC analytics you need to inspect the data and suggest what action XYZ Credit Union can take to increase cross selling (without using Machine Learning models)</a:t>
            </a:r>
          </a:p>
        </p:txBody>
      </p:sp>
      <p:sp>
        <p:nvSpPr>
          <p:cNvPr id="4" name="Rectangle 3">
            <a:extLst>
              <a:ext uri="{FF2B5EF4-FFF2-40B4-BE49-F238E27FC236}">
                <a16:creationId xmlns:a16="http://schemas.microsoft.com/office/drawing/2014/main" id="{DD7B960C-F6E1-AE45-98A6-122DB2A97B5B}"/>
              </a:ext>
            </a:extLst>
          </p:cNvPr>
          <p:cNvSpPr/>
          <p:nvPr/>
        </p:nvSpPr>
        <p:spPr>
          <a:xfrm>
            <a:off x="0" y="-290946"/>
            <a:ext cx="12192000" cy="13716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526CBCB-8ADA-0E48-96D7-11EEE40222DD}"/>
              </a:ext>
            </a:extLst>
          </p:cNvPr>
          <p:cNvSpPr>
            <a:spLocks noGrp="1"/>
          </p:cNvSpPr>
          <p:nvPr>
            <p:ph type="title"/>
          </p:nvPr>
        </p:nvSpPr>
        <p:spPr>
          <a:xfrm>
            <a:off x="616528" y="-226581"/>
            <a:ext cx="10515600" cy="1307235"/>
          </a:xfrm>
        </p:spPr>
        <p:txBody>
          <a:bodyPr>
            <a:normAutofit/>
          </a:bodyPr>
          <a:lstStyle/>
          <a:p>
            <a:r>
              <a:rPr lang="en-US" sz="3500" b="1" dirty="0">
                <a:solidFill>
                  <a:schemeClr val="accent2"/>
                </a:solidFill>
                <a:latin typeface="Calibri" panose="020F0502020204030204" pitchFamily="34" charset="0"/>
                <a:cs typeface="Calibri" panose="020F0502020204030204" pitchFamily="34" charset="0"/>
              </a:rPr>
              <a:t>PROBLEM DESCRIPTION</a:t>
            </a:r>
          </a:p>
        </p:txBody>
      </p:sp>
    </p:spTree>
    <p:extLst>
      <p:ext uri="{BB962C8B-B14F-4D97-AF65-F5344CB8AC3E}">
        <p14:creationId xmlns:p14="http://schemas.microsoft.com/office/powerpoint/2010/main" val="3504532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03A29-70E7-6740-B711-AB9064F6BC49}"/>
              </a:ext>
            </a:extLst>
          </p:cNvPr>
          <p:cNvPicPr>
            <a:picLocks noChangeAspect="1"/>
          </p:cNvPicPr>
          <p:nvPr/>
        </p:nvPicPr>
        <p:blipFill>
          <a:blip r:embed="rId2"/>
          <a:srcRect/>
          <a:stretch/>
        </p:blipFill>
        <p:spPr>
          <a:xfrm>
            <a:off x="130668" y="1274618"/>
            <a:ext cx="8954914" cy="5368985"/>
          </a:xfrm>
          <a:prstGeom prst="rect">
            <a:avLst/>
          </a:prstGeom>
        </p:spPr>
      </p:pic>
      <p:sp>
        <p:nvSpPr>
          <p:cNvPr id="13" name="TextBox 12">
            <a:extLst>
              <a:ext uri="{FF2B5EF4-FFF2-40B4-BE49-F238E27FC236}">
                <a16:creationId xmlns:a16="http://schemas.microsoft.com/office/drawing/2014/main" id="{90930E44-842B-1C4A-8E15-743CEE6E3FD1}"/>
              </a:ext>
            </a:extLst>
          </p:cNvPr>
          <p:cNvSpPr txBox="1"/>
          <p:nvPr/>
        </p:nvSpPr>
        <p:spPr>
          <a:xfrm>
            <a:off x="9310815" y="1975995"/>
            <a:ext cx="2750517" cy="1815882"/>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solidFill>
                  <a:srgbClr val="05192D"/>
                </a:solidFill>
                <a:effectLst/>
                <a:latin typeface="Studio-Feixen-Sans"/>
              </a:rPr>
              <a:t>It's interesting that the distribution is bimodal.</a:t>
            </a:r>
          </a:p>
          <a:p>
            <a:pPr marL="285750" indent="-285750">
              <a:buFont typeface="Arial" panose="020B0604020202020204" pitchFamily="34" charset="0"/>
              <a:buChar char="•"/>
            </a:pPr>
            <a:r>
              <a:rPr lang="en-US" sz="1600" b="0" i="0" dirty="0">
                <a:solidFill>
                  <a:srgbClr val="05192D"/>
                </a:solidFill>
                <a:effectLst/>
                <a:latin typeface="Studio-Feixen-Sans"/>
              </a:rPr>
              <a:t> There are a large number of university aged students, and then another peak around middle-age.</a:t>
            </a:r>
            <a:endParaRPr lang="en-US" sz="1600" dirty="0"/>
          </a:p>
          <a:p>
            <a:r>
              <a:rPr lang="en-US" sz="1600" dirty="0"/>
              <a:t>      </a:t>
            </a:r>
          </a:p>
        </p:txBody>
      </p:sp>
      <p:sp>
        <p:nvSpPr>
          <p:cNvPr id="15" name="Rectangle 14">
            <a:extLst>
              <a:ext uri="{FF2B5EF4-FFF2-40B4-BE49-F238E27FC236}">
                <a16:creationId xmlns:a16="http://schemas.microsoft.com/office/drawing/2014/main" id="{A86FFC35-F427-364C-BA92-634BB6B2B5AC}"/>
              </a:ext>
            </a:extLst>
          </p:cNvPr>
          <p:cNvSpPr/>
          <p:nvPr/>
        </p:nvSpPr>
        <p:spPr>
          <a:xfrm>
            <a:off x="4903852" y="5927907"/>
            <a:ext cx="4625008"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EE2ADCB-2F26-A940-B4CA-11022847FAA2}"/>
              </a:ext>
            </a:extLst>
          </p:cNvPr>
          <p:cNvSpPr/>
          <p:nvPr/>
        </p:nvSpPr>
        <p:spPr>
          <a:xfrm>
            <a:off x="0" y="-318533"/>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2"/>
                </a:solidFill>
                <a:latin typeface="+mj-lt"/>
              </a:rPr>
              <a:t>      1. Age Distribution of customers</a:t>
            </a:r>
          </a:p>
        </p:txBody>
      </p:sp>
    </p:spTree>
    <p:extLst>
      <p:ext uri="{BB962C8B-B14F-4D97-AF65-F5344CB8AC3E}">
        <p14:creationId xmlns:p14="http://schemas.microsoft.com/office/powerpoint/2010/main" val="2605716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03A29-70E7-6740-B711-AB9064F6BC49}"/>
              </a:ext>
            </a:extLst>
          </p:cNvPr>
          <p:cNvPicPr>
            <a:picLocks noChangeAspect="1"/>
          </p:cNvPicPr>
          <p:nvPr/>
        </p:nvPicPr>
        <p:blipFill>
          <a:blip r:embed="rId2"/>
          <a:srcRect/>
          <a:stretch/>
        </p:blipFill>
        <p:spPr>
          <a:xfrm>
            <a:off x="254702" y="1311712"/>
            <a:ext cx="8529080" cy="4616195"/>
          </a:xfrm>
          <a:prstGeom prst="rect">
            <a:avLst/>
          </a:prstGeom>
        </p:spPr>
      </p:pic>
      <p:sp>
        <p:nvSpPr>
          <p:cNvPr id="13" name="TextBox 12">
            <a:extLst>
              <a:ext uri="{FF2B5EF4-FFF2-40B4-BE49-F238E27FC236}">
                <a16:creationId xmlns:a16="http://schemas.microsoft.com/office/drawing/2014/main" id="{90930E44-842B-1C4A-8E15-743CEE6E3FD1}"/>
              </a:ext>
            </a:extLst>
          </p:cNvPr>
          <p:cNvSpPr txBox="1"/>
          <p:nvPr/>
        </p:nvSpPr>
        <p:spPr>
          <a:xfrm>
            <a:off x="8950597" y="1601922"/>
            <a:ext cx="2750517" cy="1077218"/>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solidFill>
                  <a:srgbClr val="05192D"/>
                </a:solidFill>
                <a:effectLst/>
                <a:latin typeface="Studio-Feixen-Sans"/>
              </a:rPr>
              <a:t>We can see that the most popular customer attraction channels are : 'KHE', 'KAT' and 'KFC'.</a:t>
            </a:r>
            <a:r>
              <a:rPr lang="en-US" sz="1600" dirty="0"/>
              <a:t>      </a:t>
            </a:r>
          </a:p>
        </p:txBody>
      </p:sp>
      <p:sp>
        <p:nvSpPr>
          <p:cNvPr id="15" name="Rectangle 14">
            <a:extLst>
              <a:ext uri="{FF2B5EF4-FFF2-40B4-BE49-F238E27FC236}">
                <a16:creationId xmlns:a16="http://schemas.microsoft.com/office/drawing/2014/main" id="{A86FFC35-F427-364C-BA92-634BB6B2B5AC}"/>
              </a:ext>
            </a:extLst>
          </p:cNvPr>
          <p:cNvSpPr/>
          <p:nvPr/>
        </p:nvSpPr>
        <p:spPr>
          <a:xfrm>
            <a:off x="4903852" y="5927907"/>
            <a:ext cx="4625008"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EE2ADCB-2F26-A940-B4CA-11022847FAA2}"/>
              </a:ext>
            </a:extLst>
          </p:cNvPr>
          <p:cNvSpPr/>
          <p:nvPr/>
        </p:nvSpPr>
        <p:spPr>
          <a:xfrm>
            <a:off x="0" y="-318533"/>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2"/>
                </a:solidFill>
                <a:latin typeface="+mj-lt"/>
              </a:rPr>
              <a:t>      2. Customer attraction by channel</a:t>
            </a:r>
          </a:p>
        </p:txBody>
      </p:sp>
    </p:spTree>
    <p:extLst>
      <p:ext uri="{BB962C8B-B14F-4D97-AF65-F5344CB8AC3E}">
        <p14:creationId xmlns:p14="http://schemas.microsoft.com/office/powerpoint/2010/main" val="1637184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03A29-70E7-6740-B711-AB9064F6BC49}"/>
              </a:ext>
            </a:extLst>
          </p:cNvPr>
          <p:cNvPicPr>
            <a:picLocks noChangeAspect="1"/>
          </p:cNvPicPr>
          <p:nvPr/>
        </p:nvPicPr>
        <p:blipFill>
          <a:blip r:embed="rId2"/>
          <a:srcRect/>
          <a:stretch/>
        </p:blipFill>
        <p:spPr>
          <a:xfrm>
            <a:off x="335637" y="1658076"/>
            <a:ext cx="8367209" cy="4616195"/>
          </a:xfrm>
          <a:prstGeom prst="rect">
            <a:avLst/>
          </a:prstGeom>
        </p:spPr>
      </p:pic>
      <p:sp>
        <p:nvSpPr>
          <p:cNvPr id="13" name="TextBox 12">
            <a:extLst>
              <a:ext uri="{FF2B5EF4-FFF2-40B4-BE49-F238E27FC236}">
                <a16:creationId xmlns:a16="http://schemas.microsoft.com/office/drawing/2014/main" id="{90930E44-842B-1C4A-8E15-743CEE6E3FD1}"/>
              </a:ext>
            </a:extLst>
          </p:cNvPr>
          <p:cNvSpPr txBox="1"/>
          <p:nvPr/>
        </p:nvSpPr>
        <p:spPr>
          <a:xfrm>
            <a:off x="8950597" y="1542541"/>
            <a:ext cx="2750517" cy="4616648"/>
          </a:xfrm>
          <a:prstGeom prst="rect">
            <a:avLst/>
          </a:prstGeom>
          <a:noFill/>
        </p:spPr>
        <p:txBody>
          <a:bodyPr wrap="square" rtlCol="0">
            <a:spAutoFit/>
          </a:bodyPr>
          <a:lstStyle/>
          <a:p>
            <a:pPr marL="285750" indent="-285750">
              <a:buFont typeface="Arial" panose="020B0604020202020204" pitchFamily="34" charset="0"/>
              <a:buChar char="•"/>
            </a:pPr>
            <a:r>
              <a:rPr lang="en-US" sz="1400" b="0" i="0" dirty="0">
                <a:solidFill>
                  <a:srgbClr val="05192D"/>
                </a:solidFill>
                <a:effectLst/>
                <a:latin typeface="Studio-Feixen-Sans"/>
              </a:rPr>
              <a:t>It appears that customers who were attracted through channels such as 'KHE', 'KAT', and 'KFC' tend to have a higher number of products per customer compared to those who were attracted through other channels. </a:t>
            </a:r>
          </a:p>
          <a:p>
            <a:pPr marL="285750" indent="-285750">
              <a:buFont typeface="Arial" panose="020B0604020202020204" pitchFamily="34" charset="0"/>
              <a:buChar char="•"/>
            </a:pPr>
            <a:r>
              <a:rPr lang="en-US" sz="1400" b="0" i="0" dirty="0">
                <a:solidFill>
                  <a:srgbClr val="05192D"/>
                </a:solidFill>
                <a:effectLst/>
                <a:latin typeface="Studio-Feixen-Sans"/>
              </a:rPr>
              <a:t>However, it's important to note that there are outliers in each channel group, indicating that there are customers who have a high number of products regardless of the channel used to attract them.</a:t>
            </a:r>
          </a:p>
          <a:p>
            <a:pPr marL="285750" indent="-285750">
              <a:buFont typeface="Arial" panose="020B0604020202020204" pitchFamily="34" charset="0"/>
              <a:buChar char="•"/>
            </a:pPr>
            <a:r>
              <a:rPr lang="en-US" sz="1400" b="0" i="0" dirty="0">
                <a:solidFill>
                  <a:srgbClr val="05192D"/>
                </a:solidFill>
                <a:effectLst/>
                <a:latin typeface="Studio-Feixen-Sans"/>
              </a:rPr>
              <a:t> Overall, this visualization suggests that the customer attraction channel may have some influence on the number of products per customer, but it's not the only factor at play.</a:t>
            </a:r>
            <a:endParaRPr lang="en-US" sz="1400" dirty="0"/>
          </a:p>
        </p:txBody>
      </p:sp>
      <p:sp>
        <p:nvSpPr>
          <p:cNvPr id="17" name="Rectangle 16">
            <a:extLst>
              <a:ext uri="{FF2B5EF4-FFF2-40B4-BE49-F238E27FC236}">
                <a16:creationId xmlns:a16="http://schemas.microsoft.com/office/drawing/2014/main" id="{4EE2ADCB-2F26-A940-B4CA-11022847FAA2}"/>
              </a:ext>
            </a:extLst>
          </p:cNvPr>
          <p:cNvSpPr/>
          <p:nvPr/>
        </p:nvSpPr>
        <p:spPr>
          <a:xfrm>
            <a:off x="0" y="0"/>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2"/>
                </a:solidFill>
                <a:latin typeface="+mj-lt"/>
              </a:rPr>
              <a:t>      3. Customer attraction by channel and products</a:t>
            </a:r>
          </a:p>
        </p:txBody>
      </p:sp>
    </p:spTree>
    <p:extLst>
      <p:ext uri="{BB962C8B-B14F-4D97-AF65-F5344CB8AC3E}">
        <p14:creationId xmlns:p14="http://schemas.microsoft.com/office/powerpoint/2010/main" val="2661574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03A29-70E7-6740-B711-AB9064F6BC49}"/>
              </a:ext>
            </a:extLst>
          </p:cNvPr>
          <p:cNvPicPr>
            <a:picLocks noChangeAspect="1"/>
          </p:cNvPicPr>
          <p:nvPr/>
        </p:nvPicPr>
        <p:blipFill>
          <a:blip r:embed="rId2"/>
          <a:srcRect/>
          <a:stretch/>
        </p:blipFill>
        <p:spPr>
          <a:xfrm>
            <a:off x="254702" y="1406794"/>
            <a:ext cx="8529080" cy="4426030"/>
          </a:xfrm>
          <a:prstGeom prst="rect">
            <a:avLst/>
          </a:prstGeom>
        </p:spPr>
      </p:pic>
      <p:sp>
        <p:nvSpPr>
          <p:cNvPr id="13" name="TextBox 12">
            <a:extLst>
              <a:ext uri="{FF2B5EF4-FFF2-40B4-BE49-F238E27FC236}">
                <a16:creationId xmlns:a16="http://schemas.microsoft.com/office/drawing/2014/main" id="{90930E44-842B-1C4A-8E15-743CEE6E3FD1}"/>
              </a:ext>
            </a:extLst>
          </p:cNvPr>
          <p:cNvSpPr txBox="1"/>
          <p:nvPr/>
        </p:nvSpPr>
        <p:spPr>
          <a:xfrm>
            <a:off x="8950597" y="1601922"/>
            <a:ext cx="2750517" cy="1077218"/>
          </a:xfrm>
          <a:prstGeom prst="rect">
            <a:avLst/>
          </a:prstGeom>
          <a:noFill/>
        </p:spPr>
        <p:txBody>
          <a:bodyPr wrap="square" rtlCol="0">
            <a:spAutoFit/>
          </a:bodyPr>
          <a:lstStyle/>
          <a:p>
            <a:pPr marL="285750" indent="-285750">
              <a:buFont typeface="Arial" panose="020B0604020202020204" pitchFamily="34" charset="0"/>
              <a:buChar char="•"/>
            </a:pPr>
            <a:r>
              <a:rPr lang="en-US" sz="1600" i="0" dirty="0">
                <a:solidFill>
                  <a:srgbClr val="05192D"/>
                </a:solidFill>
                <a:effectLst/>
                <a:latin typeface="Studio-Feixen-Sans"/>
              </a:rPr>
              <a:t>Most </a:t>
            </a:r>
            <a:r>
              <a:rPr lang="en-US" sz="1600" b="0" i="0" dirty="0">
                <a:solidFill>
                  <a:srgbClr val="05192D"/>
                </a:solidFill>
                <a:effectLst/>
                <a:latin typeface="Studio-Feixen-Sans"/>
              </a:rPr>
              <a:t>of the customers used one or two products and rarely use more than five products.</a:t>
            </a:r>
            <a:endParaRPr lang="en-US" sz="1600" dirty="0"/>
          </a:p>
        </p:txBody>
      </p:sp>
      <p:sp>
        <p:nvSpPr>
          <p:cNvPr id="15" name="Rectangle 14">
            <a:extLst>
              <a:ext uri="{FF2B5EF4-FFF2-40B4-BE49-F238E27FC236}">
                <a16:creationId xmlns:a16="http://schemas.microsoft.com/office/drawing/2014/main" id="{A86FFC35-F427-364C-BA92-634BB6B2B5AC}"/>
              </a:ext>
            </a:extLst>
          </p:cNvPr>
          <p:cNvSpPr/>
          <p:nvPr/>
        </p:nvSpPr>
        <p:spPr>
          <a:xfrm>
            <a:off x="4903852" y="5927907"/>
            <a:ext cx="4625008"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EE2ADCB-2F26-A940-B4CA-11022847FAA2}"/>
              </a:ext>
            </a:extLst>
          </p:cNvPr>
          <p:cNvSpPr/>
          <p:nvPr/>
        </p:nvSpPr>
        <p:spPr>
          <a:xfrm>
            <a:off x="0" y="-318533"/>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2"/>
                </a:solidFill>
                <a:latin typeface="+mj-lt"/>
              </a:rPr>
              <a:t>      4. Total number of products per customer</a:t>
            </a:r>
          </a:p>
        </p:txBody>
      </p:sp>
    </p:spTree>
    <p:extLst>
      <p:ext uri="{BB962C8B-B14F-4D97-AF65-F5344CB8AC3E}">
        <p14:creationId xmlns:p14="http://schemas.microsoft.com/office/powerpoint/2010/main" val="3584120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03A29-70E7-6740-B711-AB9064F6BC49}"/>
              </a:ext>
            </a:extLst>
          </p:cNvPr>
          <p:cNvPicPr>
            <a:picLocks noChangeAspect="1"/>
          </p:cNvPicPr>
          <p:nvPr/>
        </p:nvPicPr>
        <p:blipFill>
          <a:blip r:embed="rId2"/>
          <a:srcRect/>
          <a:stretch/>
        </p:blipFill>
        <p:spPr>
          <a:xfrm>
            <a:off x="637310" y="1482437"/>
            <a:ext cx="7516270" cy="4791834"/>
          </a:xfrm>
          <a:prstGeom prst="rect">
            <a:avLst/>
          </a:prstGeom>
        </p:spPr>
      </p:pic>
      <p:sp>
        <p:nvSpPr>
          <p:cNvPr id="13" name="TextBox 12">
            <a:extLst>
              <a:ext uri="{FF2B5EF4-FFF2-40B4-BE49-F238E27FC236}">
                <a16:creationId xmlns:a16="http://schemas.microsoft.com/office/drawing/2014/main" id="{90930E44-842B-1C4A-8E15-743CEE6E3FD1}"/>
              </a:ext>
            </a:extLst>
          </p:cNvPr>
          <p:cNvSpPr txBox="1"/>
          <p:nvPr/>
        </p:nvSpPr>
        <p:spPr>
          <a:xfrm>
            <a:off x="8950597" y="1601922"/>
            <a:ext cx="2750517" cy="2062103"/>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solidFill>
                  <a:srgbClr val="05192D"/>
                </a:solidFill>
                <a:effectLst/>
                <a:latin typeface="Studio-Feixen-Sans"/>
              </a:rPr>
              <a:t>As we see bimodal distribution with most of the products used by middle aged customers between 35 and 55 years old, followed by young customers in </a:t>
            </a:r>
            <a:r>
              <a:rPr lang="en-US" sz="1600" b="0" i="0" dirty="0" err="1">
                <a:solidFill>
                  <a:srgbClr val="05192D"/>
                </a:solidFill>
                <a:effectLst/>
                <a:latin typeface="Studio-Feixen-Sans"/>
              </a:rPr>
              <a:t>thier</a:t>
            </a:r>
            <a:r>
              <a:rPr lang="en-US" sz="1600" b="0" i="0" dirty="0">
                <a:solidFill>
                  <a:srgbClr val="05192D"/>
                </a:solidFill>
                <a:effectLst/>
                <a:latin typeface="Studio-Feixen-Sans"/>
              </a:rPr>
              <a:t> twenties.</a:t>
            </a:r>
            <a:endParaRPr lang="en-US" sz="1600" dirty="0"/>
          </a:p>
        </p:txBody>
      </p:sp>
      <p:sp>
        <p:nvSpPr>
          <p:cNvPr id="15" name="Rectangle 14">
            <a:extLst>
              <a:ext uri="{FF2B5EF4-FFF2-40B4-BE49-F238E27FC236}">
                <a16:creationId xmlns:a16="http://schemas.microsoft.com/office/drawing/2014/main" id="{A86FFC35-F427-364C-BA92-634BB6B2B5AC}"/>
              </a:ext>
            </a:extLst>
          </p:cNvPr>
          <p:cNvSpPr/>
          <p:nvPr/>
        </p:nvSpPr>
        <p:spPr>
          <a:xfrm>
            <a:off x="4903852" y="5927907"/>
            <a:ext cx="4625008"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EE2ADCB-2F26-A940-B4CA-11022847FAA2}"/>
              </a:ext>
            </a:extLst>
          </p:cNvPr>
          <p:cNvSpPr/>
          <p:nvPr/>
        </p:nvSpPr>
        <p:spPr>
          <a:xfrm>
            <a:off x="0" y="-318533"/>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2"/>
                </a:solidFill>
                <a:latin typeface="+mj-lt"/>
              </a:rPr>
              <a:t>      5. Total number of products by age</a:t>
            </a:r>
          </a:p>
        </p:txBody>
      </p:sp>
    </p:spTree>
    <p:extLst>
      <p:ext uri="{BB962C8B-B14F-4D97-AF65-F5344CB8AC3E}">
        <p14:creationId xmlns:p14="http://schemas.microsoft.com/office/powerpoint/2010/main" val="2590665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03A29-70E7-6740-B711-AB9064F6BC49}"/>
              </a:ext>
            </a:extLst>
          </p:cNvPr>
          <p:cNvPicPr>
            <a:picLocks noChangeAspect="1"/>
          </p:cNvPicPr>
          <p:nvPr/>
        </p:nvPicPr>
        <p:blipFill>
          <a:blip r:embed="rId2"/>
          <a:srcRect/>
          <a:stretch/>
        </p:blipFill>
        <p:spPr>
          <a:xfrm>
            <a:off x="609600" y="1865893"/>
            <a:ext cx="7970143" cy="5016758"/>
          </a:xfrm>
          <a:prstGeom prst="rect">
            <a:avLst/>
          </a:prstGeom>
        </p:spPr>
      </p:pic>
      <p:sp>
        <p:nvSpPr>
          <p:cNvPr id="13" name="TextBox 12">
            <a:extLst>
              <a:ext uri="{FF2B5EF4-FFF2-40B4-BE49-F238E27FC236}">
                <a16:creationId xmlns:a16="http://schemas.microsoft.com/office/drawing/2014/main" id="{90930E44-842B-1C4A-8E15-743CEE6E3FD1}"/>
              </a:ext>
            </a:extLst>
          </p:cNvPr>
          <p:cNvSpPr txBox="1"/>
          <p:nvPr/>
        </p:nvSpPr>
        <p:spPr>
          <a:xfrm>
            <a:off x="8950597" y="1545633"/>
            <a:ext cx="2986701" cy="5016758"/>
          </a:xfrm>
          <a:prstGeom prst="rect">
            <a:avLst/>
          </a:prstGeom>
          <a:noFill/>
        </p:spPr>
        <p:txBody>
          <a:bodyPr wrap="square" rtlCol="0">
            <a:spAutoFit/>
          </a:bodyPr>
          <a:lstStyle/>
          <a:p>
            <a:pPr marL="285750" indent="-285750" algn="l">
              <a:buFont typeface="Arial" panose="020B0604020202020204" pitchFamily="34" charset="0"/>
              <a:buChar char="•"/>
            </a:pPr>
            <a:r>
              <a:rPr lang="en-US" sz="1600" b="0" i="0" dirty="0">
                <a:solidFill>
                  <a:srgbClr val="05192D"/>
                </a:solidFill>
                <a:effectLst/>
                <a:latin typeface="Studio-Feixen-Sans"/>
              </a:rPr>
              <a:t>From the visualization, we can infer that customers with higher gross income tend to have more products with the bank. The (60,000-120,000) group has the highest number of products, while the group with the lowest gross income (above 240,000) has the lowest number of products.</a:t>
            </a:r>
          </a:p>
          <a:p>
            <a:pPr marL="285750" indent="-285750" algn="l">
              <a:buFont typeface="Arial" panose="020B0604020202020204" pitchFamily="34" charset="0"/>
              <a:buChar char="•"/>
            </a:pPr>
            <a:r>
              <a:rPr lang="en-US" sz="1600" b="0" i="0" dirty="0">
                <a:solidFill>
                  <a:srgbClr val="05192D"/>
                </a:solidFill>
                <a:effectLst/>
                <a:latin typeface="Studio-Feixen-Sans"/>
              </a:rPr>
              <a:t>The most popular products among all income groups are current accounts, followed by particular accounts and direct debit accounts.</a:t>
            </a:r>
          </a:p>
          <a:p>
            <a:pPr marL="285750" indent="-285750" algn="l">
              <a:buFont typeface="Arial" panose="020B0604020202020204" pitchFamily="34" charset="0"/>
              <a:buChar char="•"/>
            </a:pPr>
            <a:r>
              <a:rPr lang="en-US" sz="1600" b="0" i="0" dirty="0">
                <a:solidFill>
                  <a:srgbClr val="05192D"/>
                </a:solidFill>
                <a:effectLst/>
                <a:latin typeface="Studio-Feixen-Sans"/>
              </a:rPr>
              <a:t> The least popular products are loans and mortgages, which are only held by a small percentage of customers across all income groups.</a:t>
            </a:r>
          </a:p>
        </p:txBody>
      </p:sp>
      <p:sp>
        <p:nvSpPr>
          <p:cNvPr id="17" name="Rectangle 16">
            <a:extLst>
              <a:ext uri="{FF2B5EF4-FFF2-40B4-BE49-F238E27FC236}">
                <a16:creationId xmlns:a16="http://schemas.microsoft.com/office/drawing/2014/main" id="{4EE2ADCB-2F26-A940-B4CA-11022847FAA2}"/>
              </a:ext>
            </a:extLst>
          </p:cNvPr>
          <p:cNvSpPr/>
          <p:nvPr/>
        </p:nvSpPr>
        <p:spPr>
          <a:xfrm>
            <a:off x="0" y="0"/>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2"/>
                </a:solidFill>
                <a:latin typeface="+mj-lt"/>
              </a:rPr>
              <a:t>      6. Total number of products by income</a:t>
            </a:r>
          </a:p>
        </p:txBody>
      </p:sp>
    </p:spTree>
    <p:extLst>
      <p:ext uri="{BB962C8B-B14F-4D97-AF65-F5344CB8AC3E}">
        <p14:creationId xmlns:p14="http://schemas.microsoft.com/office/powerpoint/2010/main" val="3251063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03A29-70E7-6740-B711-AB9064F6BC49}"/>
              </a:ext>
            </a:extLst>
          </p:cNvPr>
          <p:cNvPicPr>
            <a:picLocks noChangeAspect="1"/>
          </p:cNvPicPr>
          <p:nvPr/>
        </p:nvPicPr>
        <p:blipFill>
          <a:blip r:embed="rId2"/>
          <a:srcRect/>
          <a:stretch/>
        </p:blipFill>
        <p:spPr>
          <a:xfrm>
            <a:off x="490886" y="1311712"/>
            <a:ext cx="7949908" cy="4922833"/>
          </a:xfrm>
          <a:prstGeom prst="rect">
            <a:avLst/>
          </a:prstGeom>
        </p:spPr>
      </p:pic>
      <p:sp>
        <p:nvSpPr>
          <p:cNvPr id="13" name="TextBox 12">
            <a:extLst>
              <a:ext uri="{FF2B5EF4-FFF2-40B4-BE49-F238E27FC236}">
                <a16:creationId xmlns:a16="http://schemas.microsoft.com/office/drawing/2014/main" id="{90930E44-842B-1C4A-8E15-743CEE6E3FD1}"/>
              </a:ext>
            </a:extLst>
          </p:cNvPr>
          <p:cNvSpPr txBox="1"/>
          <p:nvPr/>
        </p:nvSpPr>
        <p:spPr>
          <a:xfrm>
            <a:off x="8756073" y="1111227"/>
            <a:ext cx="3228109" cy="4770537"/>
          </a:xfrm>
          <a:prstGeom prst="rect">
            <a:avLst/>
          </a:prstGeom>
          <a:noFill/>
        </p:spPr>
        <p:txBody>
          <a:bodyPr wrap="square" rtlCol="0">
            <a:spAutoFit/>
          </a:bodyPr>
          <a:lstStyle/>
          <a:p>
            <a:pPr algn="l">
              <a:buFont typeface="Arial" panose="020B0604020202020204" pitchFamily="34" charset="0"/>
              <a:buChar char="•"/>
            </a:pPr>
            <a:r>
              <a:rPr lang="en-US" sz="1600" b="0" i="0" dirty="0">
                <a:solidFill>
                  <a:srgbClr val="05192D"/>
                </a:solidFill>
                <a:effectLst/>
                <a:latin typeface="Studio-Feixen-Sans"/>
              </a:rPr>
              <a:t> The majority of customers who have a mortgage are between 40 and 60 years old.</a:t>
            </a:r>
          </a:p>
          <a:p>
            <a:pPr algn="l">
              <a:buFont typeface="Arial" panose="020B0604020202020204" pitchFamily="34" charset="0"/>
              <a:buChar char="•"/>
            </a:pPr>
            <a:r>
              <a:rPr lang="en-US" sz="1600" b="0" i="0" dirty="0">
                <a:solidFill>
                  <a:srgbClr val="05192D"/>
                </a:solidFill>
                <a:effectLst/>
                <a:latin typeface="Studio-Feixen-Sans"/>
              </a:rPr>
              <a:t> Customers who have a payroll account, pensions, and direct debit are mostly between 20 and 60 years old.</a:t>
            </a:r>
          </a:p>
          <a:p>
            <a:pPr algn="l">
              <a:buFont typeface="Arial" panose="020B0604020202020204" pitchFamily="34" charset="0"/>
              <a:buChar char="•"/>
            </a:pPr>
            <a:r>
              <a:rPr lang="en-US" sz="1600" b="0" i="0" dirty="0">
                <a:solidFill>
                  <a:srgbClr val="05192D"/>
                </a:solidFill>
                <a:effectLst/>
                <a:latin typeface="Studio-Feixen-Sans"/>
              </a:rPr>
              <a:t> Customers who have short-term deposits, medium-term deposits, and long-term deposits are mostly between 40 and 80 years old.</a:t>
            </a:r>
          </a:p>
          <a:p>
            <a:pPr algn="l">
              <a:buFont typeface="Arial" panose="020B0604020202020204" pitchFamily="34" charset="0"/>
              <a:buChar char="•"/>
            </a:pPr>
            <a:r>
              <a:rPr lang="en-US" sz="1600" b="0" i="0" dirty="0">
                <a:solidFill>
                  <a:srgbClr val="05192D"/>
                </a:solidFill>
                <a:effectLst/>
                <a:latin typeface="Studio-Feixen-Sans"/>
              </a:rPr>
              <a:t> Customers who have securities are mostly between 60 and 80 years old.</a:t>
            </a:r>
          </a:p>
          <a:p>
            <a:pPr algn="l">
              <a:buFont typeface="Arial" panose="020B0604020202020204" pitchFamily="34" charset="0"/>
              <a:buChar char="•"/>
            </a:pPr>
            <a:r>
              <a:rPr lang="en-US" sz="1600" b="0" i="0" dirty="0">
                <a:solidFill>
                  <a:srgbClr val="05192D"/>
                </a:solidFill>
                <a:effectLst/>
                <a:latin typeface="Studio-Feixen-Sans"/>
              </a:rPr>
              <a:t> Customers who have e-account, funds, and credit card are mostly between 20 and 40 years old.</a:t>
            </a:r>
          </a:p>
          <a:p>
            <a:pPr algn="l">
              <a:buFont typeface="Arial" panose="020B0604020202020204" pitchFamily="34" charset="0"/>
              <a:buChar char="•"/>
            </a:pPr>
            <a:r>
              <a:rPr lang="en-US" sz="1600" b="0" i="0" dirty="0">
                <a:solidFill>
                  <a:srgbClr val="05192D"/>
                </a:solidFill>
                <a:effectLst/>
                <a:latin typeface="Studio-Feixen-Sans"/>
              </a:rPr>
              <a:t> Customers who have home account, taxes, and loans are mostly between 20 and 60 years old.</a:t>
            </a:r>
          </a:p>
        </p:txBody>
      </p:sp>
      <p:sp>
        <p:nvSpPr>
          <p:cNvPr id="17" name="Rectangle 16">
            <a:extLst>
              <a:ext uri="{FF2B5EF4-FFF2-40B4-BE49-F238E27FC236}">
                <a16:creationId xmlns:a16="http://schemas.microsoft.com/office/drawing/2014/main" id="{4EE2ADCB-2F26-A940-B4CA-11022847FAA2}"/>
              </a:ext>
            </a:extLst>
          </p:cNvPr>
          <p:cNvSpPr/>
          <p:nvPr/>
        </p:nvSpPr>
        <p:spPr>
          <a:xfrm>
            <a:off x="0" y="-318533"/>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2"/>
                </a:solidFill>
                <a:latin typeface="+mj-lt"/>
              </a:rPr>
              <a:t>      7. Total number of products by age group</a:t>
            </a:r>
          </a:p>
        </p:txBody>
      </p:sp>
    </p:spTree>
    <p:extLst>
      <p:ext uri="{BB962C8B-B14F-4D97-AF65-F5344CB8AC3E}">
        <p14:creationId xmlns:p14="http://schemas.microsoft.com/office/powerpoint/2010/main" val="2754501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03A29-70E7-6740-B711-AB9064F6BC49}"/>
              </a:ext>
            </a:extLst>
          </p:cNvPr>
          <p:cNvPicPr>
            <a:picLocks noChangeAspect="1"/>
          </p:cNvPicPr>
          <p:nvPr/>
        </p:nvPicPr>
        <p:blipFill>
          <a:blip r:embed="rId2"/>
          <a:srcRect/>
          <a:stretch/>
        </p:blipFill>
        <p:spPr>
          <a:xfrm>
            <a:off x="235527" y="1311712"/>
            <a:ext cx="7707840" cy="5016758"/>
          </a:xfrm>
          <a:prstGeom prst="rect">
            <a:avLst/>
          </a:prstGeom>
        </p:spPr>
      </p:pic>
      <p:sp>
        <p:nvSpPr>
          <p:cNvPr id="13" name="TextBox 12">
            <a:extLst>
              <a:ext uri="{FF2B5EF4-FFF2-40B4-BE49-F238E27FC236}">
                <a16:creationId xmlns:a16="http://schemas.microsoft.com/office/drawing/2014/main" id="{90930E44-842B-1C4A-8E15-743CEE6E3FD1}"/>
              </a:ext>
            </a:extLst>
          </p:cNvPr>
          <p:cNvSpPr txBox="1"/>
          <p:nvPr/>
        </p:nvSpPr>
        <p:spPr>
          <a:xfrm>
            <a:off x="8354291" y="1320361"/>
            <a:ext cx="3346823" cy="5016758"/>
          </a:xfrm>
          <a:prstGeom prst="rect">
            <a:avLst/>
          </a:prstGeom>
          <a:noFill/>
        </p:spPr>
        <p:txBody>
          <a:bodyPr wrap="square" rtlCol="0">
            <a:spAutoFit/>
          </a:bodyPr>
          <a:lstStyle/>
          <a:p>
            <a:pPr algn="l">
              <a:buFont typeface="Arial" panose="020B0604020202020204" pitchFamily="34" charset="0"/>
              <a:buChar char="•"/>
            </a:pPr>
            <a:r>
              <a:rPr lang="en-US" sz="1600" b="0" i="0" dirty="0">
                <a:solidFill>
                  <a:srgbClr val="05192D"/>
                </a:solidFill>
                <a:effectLst/>
                <a:latin typeface="Studio-Feixen-Sans"/>
              </a:rPr>
              <a:t> The majority of customers for each product belong to the "02 - PARTICULARES" segment, followed by the " segment.</a:t>
            </a:r>
          </a:p>
          <a:p>
            <a:pPr algn="l"/>
            <a:endParaRPr lang="en-US" sz="1600" b="0" i="0" dirty="0">
              <a:solidFill>
                <a:srgbClr val="05192D"/>
              </a:solidFill>
              <a:effectLst/>
              <a:latin typeface="Studio-Feixen-Sans"/>
            </a:endParaRPr>
          </a:p>
          <a:p>
            <a:pPr algn="l">
              <a:buFont typeface="Arial" panose="020B0604020202020204" pitchFamily="34" charset="0"/>
              <a:buChar char="•"/>
            </a:pPr>
            <a:r>
              <a:rPr lang="en-US" sz="1600" b="0" i="0" dirty="0">
                <a:solidFill>
                  <a:srgbClr val="05192D"/>
                </a:solidFill>
                <a:effectLst/>
                <a:latin typeface="Studio-Feixen-Sans"/>
              </a:rPr>
              <a:t> The "03 - UNIVERSITARIO" segment has the lowest number of customers for each product.</a:t>
            </a:r>
          </a:p>
          <a:p>
            <a:pPr algn="l">
              <a:buFont typeface="Arial" panose="020B0604020202020204" pitchFamily="34" charset="0"/>
              <a:buChar char="•"/>
            </a:pPr>
            <a:endParaRPr lang="en-US" sz="1600" b="0" i="0" dirty="0">
              <a:solidFill>
                <a:srgbClr val="05192D"/>
              </a:solidFill>
              <a:effectLst/>
              <a:latin typeface="Studio-Feixen-Sans"/>
            </a:endParaRPr>
          </a:p>
          <a:p>
            <a:pPr algn="l">
              <a:buFont typeface="Arial" panose="020B0604020202020204" pitchFamily="34" charset="0"/>
              <a:buChar char="•"/>
            </a:pPr>
            <a:r>
              <a:rPr lang="en-US" sz="1600" b="0" i="0" dirty="0">
                <a:solidFill>
                  <a:srgbClr val="05192D"/>
                </a:solidFill>
                <a:effectLst/>
                <a:latin typeface="Studio-Feixen-Sans"/>
              </a:rPr>
              <a:t> The distribution of customers across segments varies for each product, with some products having a more even distribution across segments while others are dominated by a single segment.</a:t>
            </a:r>
          </a:p>
          <a:p>
            <a:pPr algn="l">
              <a:buFont typeface="Arial" panose="020B0604020202020204" pitchFamily="34" charset="0"/>
              <a:buChar char="•"/>
            </a:pPr>
            <a:endParaRPr lang="en-US" sz="1600" b="0" i="0" dirty="0">
              <a:solidFill>
                <a:srgbClr val="05192D"/>
              </a:solidFill>
              <a:effectLst/>
              <a:latin typeface="Studio-Feixen-Sans"/>
            </a:endParaRPr>
          </a:p>
          <a:p>
            <a:pPr algn="l">
              <a:buFont typeface="Arial" panose="020B0604020202020204" pitchFamily="34" charset="0"/>
              <a:buChar char="•"/>
            </a:pPr>
            <a:r>
              <a:rPr lang="en-US" sz="1600" b="0" i="0" dirty="0">
                <a:solidFill>
                  <a:srgbClr val="05192D"/>
                </a:solidFill>
                <a:effectLst/>
                <a:latin typeface="Studio-Feixen-Sans"/>
              </a:rPr>
              <a:t> Overall, the "02 - PARTICULARES" segment has the highest number of customers across all products, followed by the "01 - TOP" segment.</a:t>
            </a:r>
          </a:p>
        </p:txBody>
      </p:sp>
      <p:sp>
        <p:nvSpPr>
          <p:cNvPr id="17" name="Rectangle 16">
            <a:extLst>
              <a:ext uri="{FF2B5EF4-FFF2-40B4-BE49-F238E27FC236}">
                <a16:creationId xmlns:a16="http://schemas.microsoft.com/office/drawing/2014/main" id="{4EE2ADCB-2F26-A940-B4CA-11022847FAA2}"/>
              </a:ext>
            </a:extLst>
          </p:cNvPr>
          <p:cNvSpPr/>
          <p:nvPr/>
        </p:nvSpPr>
        <p:spPr>
          <a:xfrm>
            <a:off x="0" y="-318533"/>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2"/>
                </a:solidFill>
                <a:latin typeface="+mj-lt"/>
              </a:rPr>
              <a:t>      8. Distribution of products by segment</a:t>
            </a:r>
          </a:p>
        </p:txBody>
      </p:sp>
    </p:spTree>
    <p:extLst>
      <p:ext uri="{BB962C8B-B14F-4D97-AF65-F5344CB8AC3E}">
        <p14:creationId xmlns:p14="http://schemas.microsoft.com/office/powerpoint/2010/main" val="3863565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03A29-70E7-6740-B711-AB9064F6BC49}"/>
              </a:ext>
            </a:extLst>
          </p:cNvPr>
          <p:cNvPicPr>
            <a:picLocks noChangeAspect="1"/>
          </p:cNvPicPr>
          <p:nvPr/>
        </p:nvPicPr>
        <p:blipFill>
          <a:blip r:embed="rId2"/>
          <a:srcRect/>
          <a:stretch/>
        </p:blipFill>
        <p:spPr>
          <a:xfrm>
            <a:off x="429491" y="1468581"/>
            <a:ext cx="7513876" cy="5140037"/>
          </a:xfrm>
          <a:prstGeom prst="rect">
            <a:avLst/>
          </a:prstGeom>
        </p:spPr>
      </p:pic>
      <p:sp>
        <p:nvSpPr>
          <p:cNvPr id="13" name="TextBox 12">
            <a:extLst>
              <a:ext uri="{FF2B5EF4-FFF2-40B4-BE49-F238E27FC236}">
                <a16:creationId xmlns:a16="http://schemas.microsoft.com/office/drawing/2014/main" id="{90930E44-842B-1C4A-8E15-743CEE6E3FD1}"/>
              </a:ext>
            </a:extLst>
          </p:cNvPr>
          <p:cNvSpPr txBox="1"/>
          <p:nvPr/>
        </p:nvSpPr>
        <p:spPr>
          <a:xfrm>
            <a:off x="8312728" y="1379577"/>
            <a:ext cx="3735408" cy="5262979"/>
          </a:xfrm>
          <a:prstGeom prst="rect">
            <a:avLst/>
          </a:prstGeom>
          <a:noFill/>
        </p:spPr>
        <p:txBody>
          <a:bodyPr wrap="square" rtlCol="0">
            <a:spAutoFit/>
          </a:bodyPr>
          <a:lstStyle/>
          <a:p>
            <a:pPr marL="285750" indent="-285750" algn="l">
              <a:buFont typeface="Arial" panose="020B0604020202020204" pitchFamily="34" charset="0"/>
              <a:buChar char="•"/>
            </a:pPr>
            <a:r>
              <a:rPr lang="en-US" sz="1400" b="0" i="0" dirty="0">
                <a:solidFill>
                  <a:srgbClr val="05192D"/>
                </a:solidFill>
                <a:effectLst/>
                <a:latin typeface="Studio-Feixen-Sans"/>
              </a:rPr>
              <a:t>The "Active" customers have a higher number of purchased products across all product types compared to the "Inactive" customers.</a:t>
            </a:r>
          </a:p>
          <a:p>
            <a:pPr marL="285750" indent="-285750" algn="l">
              <a:buFont typeface="Arial" panose="020B0604020202020204" pitchFamily="34" charset="0"/>
              <a:buChar char="•"/>
            </a:pPr>
            <a:endParaRPr lang="en-US" sz="1400" b="0" i="0" dirty="0">
              <a:solidFill>
                <a:srgbClr val="05192D"/>
              </a:solidFill>
              <a:effectLst/>
              <a:latin typeface="Studio-Feixen-Sans"/>
            </a:endParaRPr>
          </a:p>
          <a:p>
            <a:pPr marL="285750" indent="-285750" algn="l">
              <a:buFont typeface="Arial" panose="020B0604020202020204" pitchFamily="34" charset="0"/>
              <a:buChar char="•"/>
            </a:pPr>
            <a:r>
              <a:rPr lang="en-US" sz="1400" b="0" i="0" dirty="0">
                <a:solidFill>
                  <a:srgbClr val="05192D"/>
                </a:solidFill>
                <a:effectLst/>
                <a:latin typeface="Studio-Feixen-Sans"/>
              </a:rPr>
              <a:t>The "Active" customers have a higher number of "</a:t>
            </a:r>
            <a:r>
              <a:rPr lang="en-US" sz="1400" b="0" i="0" dirty="0" err="1">
                <a:solidFill>
                  <a:srgbClr val="05192D"/>
                </a:solidFill>
                <a:effectLst/>
                <a:latin typeface="Studio-Feixen-Sans"/>
              </a:rPr>
              <a:t>long_term_deposits</a:t>
            </a:r>
            <a:r>
              <a:rPr lang="en-US" sz="1400" b="0" i="0" dirty="0">
                <a:solidFill>
                  <a:srgbClr val="05192D"/>
                </a:solidFill>
                <a:effectLst/>
                <a:latin typeface="Studio-Feixen-Sans"/>
              </a:rPr>
              <a:t>", "funds", "mortgage", "</a:t>
            </a:r>
            <a:r>
              <a:rPr lang="en-US" sz="1400" b="0" i="0" dirty="0" err="1">
                <a:solidFill>
                  <a:srgbClr val="05192D"/>
                </a:solidFill>
                <a:effectLst/>
                <a:latin typeface="Studio-Feixen-Sans"/>
              </a:rPr>
              <a:t>pensions_a</a:t>
            </a:r>
            <a:r>
              <a:rPr lang="en-US" sz="1400" b="0" i="0" dirty="0">
                <a:solidFill>
                  <a:srgbClr val="05192D"/>
                </a:solidFill>
                <a:effectLst/>
                <a:latin typeface="Studio-Feixen-Sans"/>
              </a:rPr>
              <a:t>", "loans", "</a:t>
            </a:r>
            <a:r>
              <a:rPr lang="en-US" sz="1400" b="0" i="0" dirty="0" err="1">
                <a:solidFill>
                  <a:srgbClr val="05192D"/>
                </a:solidFill>
                <a:effectLst/>
                <a:latin typeface="Studio-Feixen-Sans"/>
              </a:rPr>
              <a:t>credit_card</a:t>
            </a:r>
            <a:r>
              <a:rPr lang="en-US" sz="1400" b="0" i="0" dirty="0">
                <a:solidFill>
                  <a:srgbClr val="05192D"/>
                </a:solidFill>
                <a:effectLst/>
                <a:latin typeface="Studio-Feixen-Sans"/>
              </a:rPr>
              <a:t>", "securities", "</a:t>
            </a:r>
            <a:r>
              <a:rPr lang="en-US" sz="1400" b="0" i="0" dirty="0" err="1">
                <a:solidFill>
                  <a:srgbClr val="05192D"/>
                </a:solidFill>
                <a:effectLst/>
                <a:latin typeface="Studio-Feixen-Sans"/>
              </a:rPr>
              <a:t>home_account</a:t>
            </a:r>
            <a:r>
              <a:rPr lang="en-US" sz="1400" b="0" i="0" dirty="0">
                <a:solidFill>
                  <a:srgbClr val="05192D"/>
                </a:solidFill>
                <a:effectLst/>
                <a:latin typeface="Studio-Feixen-Sans"/>
              </a:rPr>
              <a:t>", "payroll", "</a:t>
            </a:r>
            <a:r>
              <a:rPr lang="en-US" sz="1400" b="0" i="0" dirty="0" err="1">
                <a:solidFill>
                  <a:srgbClr val="05192D"/>
                </a:solidFill>
                <a:effectLst/>
                <a:latin typeface="Studio-Feixen-Sans"/>
              </a:rPr>
              <a:t>pensions_b</a:t>
            </a:r>
            <a:r>
              <a:rPr lang="en-US" sz="1400" b="0" i="0" dirty="0">
                <a:solidFill>
                  <a:srgbClr val="05192D"/>
                </a:solidFill>
                <a:effectLst/>
                <a:latin typeface="Studio-Feixen-Sans"/>
              </a:rPr>
              <a:t>", and "</a:t>
            </a:r>
            <a:r>
              <a:rPr lang="en-US" sz="1400" b="0" i="0" dirty="0" err="1">
                <a:solidFill>
                  <a:srgbClr val="05192D"/>
                </a:solidFill>
                <a:effectLst/>
                <a:latin typeface="Studio-Feixen-Sans"/>
              </a:rPr>
              <a:t>direct_debit</a:t>
            </a:r>
            <a:r>
              <a:rPr lang="en-US" sz="1400" b="0" i="0" dirty="0">
                <a:solidFill>
                  <a:srgbClr val="05192D"/>
                </a:solidFill>
                <a:effectLst/>
                <a:latin typeface="Studio-Feixen-Sans"/>
              </a:rPr>
              <a:t>" products compared to the "Inactive" customers.</a:t>
            </a:r>
          </a:p>
          <a:p>
            <a:pPr marL="285750" indent="-285750" algn="l">
              <a:buFont typeface="Arial" panose="020B0604020202020204" pitchFamily="34" charset="0"/>
              <a:buChar char="•"/>
            </a:pPr>
            <a:endParaRPr lang="en-US" sz="1400" b="0" i="0" dirty="0">
              <a:solidFill>
                <a:srgbClr val="05192D"/>
              </a:solidFill>
              <a:effectLst/>
              <a:latin typeface="Studio-Feixen-Sans"/>
            </a:endParaRPr>
          </a:p>
          <a:p>
            <a:pPr marL="285750" indent="-285750" algn="l">
              <a:buFont typeface="Arial" panose="020B0604020202020204" pitchFamily="34" charset="0"/>
              <a:buChar char="•"/>
            </a:pPr>
            <a:r>
              <a:rPr lang="en-US" sz="1400" b="0" i="0" dirty="0">
                <a:solidFill>
                  <a:srgbClr val="05192D"/>
                </a:solidFill>
                <a:effectLst/>
                <a:latin typeface="Studio-Feixen-Sans"/>
              </a:rPr>
              <a:t>On the other hand, the "Inactive" customers have a higher number of "</a:t>
            </a:r>
            <a:r>
              <a:rPr lang="en-US" sz="1400" b="0" i="0" dirty="0" err="1">
                <a:solidFill>
                  <a:srgbClr val="05192D"/>
                </a:solidFill>
                <a:effectLst/>
                <a:latin typeface="Studio-Feixen-Sans"/>
              </a:rPr>
              <a:t>savings_account</a:t>
            </a:r>
            <a:r>
              <a:rPr lang="en-US" sz="1400" b="0" i="0" dirty="0">
                <a:solidFill>
                  <a:srgbClr val="05192D"/>
                </a:solidFill>
                <a:effectLst/>
                <a:latin typeface="Studio-Feixen-Sans"/>
              </a:rPr>
              <a:t>", "guarantees", "</a:t>
            </a:r>
            <a:r>
              <a:rPr lang="en-US" sz="1400" b="0" i="0" dirty="0" err="1">
                <a:solidFill>
                  <a:srgbClr val="05192D"/>
                </a:solidFill>
                <a:effectLst/>
                <a:latin typeface="Studio-Feixen-Sans"/>
              </a:rPr>
              <a:t>current_accounts</a:t>
            </a:r>
            <a:r>
              <a:rPr lang="en-US" sz="1400" b="0" i="0" dirty="0">
                <a:solidFill>
                  <a:srgbClr val="05192D"/>
                </a:solidFill>
                <a:effectLst/>
                <a:latin typeface="Studio-Feixen-Sans"/>
              </a:rPr>
              <a:t>", "</a:t>
            </a:r>
            <a:r>
              <a:rPr lang="en-US" sz="1400" b="0" i="0" dirty="0" err="1">
                <a:solidFill>
                  <a:srgbClr val="05192D"/>
                </a:solidFill>
                <a:effectLst/>
                <a:latin typeface="Studio-Feixen-Sans"/>
              </a:rPr>
              <a:t>derivada_account</a:t>
            </a:r>
            <a:r>
              <a:rPr lang="en-US" sz="1400" b="0" i="0" dirty="0">
                <a:solidFill>
                  <a:srgbClr val="05192D"/>
                </a:solidFill>
                <a:effectLst/>
                <a:latin typeface="Studio-Feixen-Sans"/>
              </a:rPr>
              <a:t>", "</a:t>
            </a:r>
            <a:r>
              <a:rPr lang="en-US" sz="1400" b="0" i="0" dirty="0" err="1">
                <a:solidFill>
                  <a:srgbClr val="05192D"/>
                </a:solidFill>
                <a:effectLst/>
                <a:latin typeface="Studio-Feixen-Sans"/>
              </a:rPr>
              <a:t>payroll_account</a:t>
            </a:r>
            <a:r>
              <a:rPr lang="en-US" sz="1400" b="0" i="0" dirty="0">
                <a:solidFill>
                  <a:srgbClr val="05192D"/>
                </a:solidFill>
                <a:effectLst/>
                <a:latin typeface="Studio-Feixen-Sans"/>
              </a:rPr>
              <a:t>", "</a:t>
            </a:r>
            <a:r>
              <a:rPr lang="en-US" sz="1400" b="0" i="0" dirty="0" err="1">
                <a:solidFill>
                  <a:srgbClr val="05192D"/>
                </a:solidFill>
                <a:effectLst/>
                <a:latin typeface="Studio-Feixen-Sans"/>
              </a:rPr>
              <a:t>junior_account</a:t>
            </a:r>
            <a:r>
              <a:rPr lang="en-US" sz="1400" b="0" i="0" dirty="0">
                <a:solidFill>
                  <a:srgbClr val="05192D"/>
                </a:solidFill>
                <a:effectLst/>
                <a:latin typeface="Studio-Feixen-Sans"/>
              </a:rPr>
              <a:t>", "</a:t>
            </a:r>
            <a:r>
              <a:rPr lang="en-US" sz="1400" b="0" i="0" dirty="0" err="1">
                <a:solidFill>
                  <a:srgbClr val="05192D"/>
                </a:solidFill>
                <a:effectLst/>
                <a:latin typeface="Studio-Feixen-Sans"/>
              </a:rPr>
              <a:t>mas_particular_account</a:t>
            </a:r>
            <a:r>
              <a:rPr lang="en-US" sz="1400" b="0" i="0" dirty="0">
                <a:solidFill>
                  <a:srgbClr val="05192D"/>
                </a:solidFill>
                <a:effectLst/>
                <a:latin typeface="Studio-Feixen-Sans"/>
              </a:rPr>
              <a:t>", "</a:t>
            </a:r>
            <a:r>
              <a:rPr lang="en-US" sz="1400" b="0" i="0" dirty="0" err="1">
                <a:solidFill>
                  <a:srgbClr val="05192D"/>
                </a:solidFill>
                <a:effectLst/>
                <a:latin typeface="Studio-Feixen-Sans"/>
              </a:rPr>
              <a:t>particular_account</a:t>
            </a:r>
            <a:r>
              <a:rPr lang="en-US" sz="1400" b="0" i="0" dirty="0">
                <a:solidFill>
                  <a:srgbClr val="05192D"/>
                </a:solidFill>
                <a:effectLst/>
                <a:latin typeface="Studio-Feixen-Sans"/>
              </a:rPr>
              <a:t>", "</a:t>
            </a:r>
            <a:r>
              <a:rPr lang="en-US" sz="1400" b="0" i="0" dirty="0" err="1">
                <a:solidFill>
                  <a:srgbClr val="05192D"/>
                </a:solidFill>
                <a:effectLst/>
                <a:latin typeface="Studio-Feixen-Sans"/>
              </a:rPr>
              <a:t>particular_plus_account</a:t>
            </a:r>
            <a:r>
              <a:rPr lang="en-US" sz="1400" b="0" i="0" dirty="0">
                <a:solidFill>
                  <a:srgbClr val="05192D"/>
                </a:solidFill>
                <a:effectLst/>
                <a:latin typeface="Studio-Feixen-Sans"/>
              </a:rPr>
              <a:t>", "</a:t>
            </a:r>
            <a:r>
              <a:rPr lang="en-US" sz="1400" b="0" i="0" dirty="0" err="1">
                <a:solidFill>
                  <a:srgbClr val="05192D"/>
                </a:solidFill>
                <a:effectLst/>
                <a:latin typeface="Studio-Feixen-Sans"/>
              </a:rPr>
              <a:t>short_term_deposits</a:t>
            </a:r>
            <a:r>
              <a:rPr lang="en-US" sz="1400" b="0" i="0" dirty="0">
                <a:solidFill>
                  <a:srgbClr val="05192D"/>
                </a:solidFill>
                <a:effectLst/>
                <a:latin typeface="Studio-Feixen-Sans"/>
              </a:rPr>
              <a:t>", "</a:t>
            </a:r>
            <a:r>
              <a:rPr lang="en-US" sz="1400" b="0" i="0" dirty="0" err="1">
                <a:solidFill>
                  <a:srgbClr val="05192D"/>
                </a:solidFill>
                <a:effectLst/>
                <a:latin typeface="Studio-Feixen-Sans"/>
              </a:rPr>
              <a:t>medium_term_deposits</a:t>
            </a:r>
            <a:r>
              <a:rPr lang="en-US" sz="1400" b="0" i="0" dirty="0">
                <a:solidFill>
                  <a:srgbClr val="05192D"/>
                </a:solidFill>
                <a:effectLst/>
                <a:latin typeface="Studio-Feixen-Sans"/>
              </a:rPr>
              <a:t>", and "</a:t>
            </a:r>
            <a:r>
              <a:rPr lang="en-US" sz="1400" b="0" i="0" dirty="0" err="1">
                <a:solidFill>
                  <a:srgbClr val="05192D"/>
                </a:solidFill>
                <a:effectLst/>
                <a:latin typeface="Studio-Feixen-Sans"/>
              </a:rPr>
              <a:t>e_account</a:t>
            </a:r>
            <a:r>
              <a:rPr lang="en-US" sz="1400" b="0" i="0" dirty="0">
                <a:solidFill>
                  <a:srgbClr val="05192D"/>
                </a:solidFill>
                <a:effectLst/>
                <a:latin typeface="Studio-Feixen-Sans"/>
              </a:rPr>
              <a:t>" products compared to the "Active" customers.</a:t>
            </a:r>
          </a:p>
        </p:txBody>
      </p:sp>
      <p:sp>
        <p:nvSpPr>
          <p:cNvPr id="17" name="Rectangle 16">
            <a:extLst>
              <a:ext uri="{FF2B5EF4-FFF2-40B4-BE49-F238E27FC236}">
                <a16:creationId xmlns:a16="http://schemas.microsoft.com/office/drawing/2014/main" id="{4EE2ADCB-2F26-A940-B4CA-11022847FAA2}"/>
              </a:ext>
            </a:extLst>
          </p:cNvPr>
          <p:cNvSpPr/>
          <p:nvPr/>
        </p:nvSpPr>
        <p:spPr>
          <a:xfrm>
            <a:off x="0" y="0"/>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2"/>
                </a:solidFill>
                <a:latin typeface="+mj-lt"/>
              </a:rPr>
              <a:t>      9. Distribution of customers by activity index</a:t>
            </a:r>
          </a:p>
        </p:txBody>
      </p:sp>
    </p:spTree>
    <p:extLst>
      <p:ext uri="{BB962C8B-B14F-4D97-AF65-F5344CB8AC3E}">
        <p14:creationId xmlns:p14="http://schemas.microsoft.com/office/powerpoint/2010/main" val="2041778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03A29-70E7-6740-B711-AB9064F6BC49}"/>
              </a:ext>
            </a:extLst>
          </p:cNvPr>
          <p:cNvPicPr>
            <a:picLocks noChangeAspect="1"/>
          </p:cNvPicPr>
          <p:nvPr/>
        </p:nvPicPr>
        <p:blipFill>
          <a:blip r:embed="rId2"/>
          <a:srcRect/>
          <a:stretch/>
        </p:blipFill>
        <p:spPr>
          <a:xfrm>
            <a:off x="490886" y="1311712"/>
            <a:ext cx="7918823" cy="5019815"/>
          </a:xfrm>
          <a:prstGeom prst="rect">
            <a:avLst/>
          </a:prstGeom>
        </p:spPr>
      </p:pic>
      <p:sp>
        <p:nvSpPr>
          <p:cNvPr id="13" name="TextBox 12">
            <a:extLst>
              <a:ext uri="{FF2B5EF4-FFF2-40B4-BE49-F238E27FC236}">
                <a16:creationId xmlns:a16="http://schemas.microsoft.com/office/drawing/2014/main" id="{90930E44-842B-1C4A-8E15-743CEE6E3FD1}"/>
              </a:ext>
            </a:extLst>
          </p:cNvPr>
          <p:cNvSpPr txBox="1"/>
          <p:nvPr/>
        </p:nvSpPr>
        <p:spPr>
          <a:xfrm>
            <a:off x="8950597" y="1449522"/>
            <a:ext cx="2750517" cy="5016758"/>
          </a:xfrm>
          <a:prstGeom prst="rect">
            <a:avLst/>
          </a:prstGeom>
          <a:noFill/>
        </p:spPr>
        <p:txBody>
          <a:bodyPr wrap="square" rtlCol="0">
            <a:spAutoFit/>
          </a:bodyPr>
          <a:lstStyle/>
          <a:p>
            <a:pPr marL="285750" indent="-285750" algn="l">
              <a:buFont typeface="Arial" panose="020B0604020202020204" pitchFamily="34" charset="0"/>
              <a:buChar char="•"/>
            </a:pPr>
            <a:r>
              <a:rPr lang="en-US" sz="1600" dirty="0">
                <a:solidFill>
                  <a:srgbClr val="05192D"/>
                </a:solidFill>
                <a:latin typeface="Studio-Feixen-Sans"/>
              </a:rPr>
              <a:t>W</a:t>
            </a:r>
            <a:r>
              <a:rPr lang="en-US" sz="1600" b="0" i="0" dirty="0">
                <a:solidFill>
                  <a:srgbClr val="05192D"/>
                </a:solidFill>
                <a:effectLst/>
                <a:latin typeface="Studio-Feixen-Sans"/>
              </a:rPr>
              <a:t>e can infer that the distribution of purchased products types varies by customer sex. </a:t>
            </a:r>
          </a:p>
          <a:p>
            <a:pPr marL="285750" indent="-285750" algn="l">
              <a:buFont typeface="Arial" panose="020B0604020202020204" pitchFamily="34" charset="0"/>
              <a:buChar char="•"/>
            </a:pPr>
            <a:endParaRPr lang="en-US" sz="1600" b="0" i="0" dirty="0">
              <a:solidFill>
                <a:srgbClr val="05192D"/>
              </a:solidFill>
              <a:effectLst/>
              <a:latin typeface="Studio-Feixen-Sans"/>
            </a:endParaRPr>
          </a:p>
          <a:p>
            <a:pPr marL="285750" indent="-285750" algn="l">
              <a:buFont typeface="Arial" panose="020B0604020202020204" pitchFamily="34" charset="0"/>
              <a:buChar char="•"/>
            </a:pPr>
            <a:r>
              <a:rPr lang="en-US" sz="1600" b="0" i="0" dirty="0">
                <a:solidFill>
                  <a:srgbClr val="05192D"/>
                </a:solidFill>
                <a:effectLst/>
                <a:latin typeface="Studio-Feixen-Sans"/>
              </a:rPr>
              <a:t>The number of purchased products is higher for female customers compared to male customers across all product types.</a:t>
            </a:r>
          </a:p>
          <a:p>
            <a:pPr marL="285750" indent="-285750" algn="l">
              <a:buFont typeface="Arial" panose="020B0604020202020204" pitchFamily="34" charset="0"/>
              <a:buChar char="•"/>
            </a:pPr>
            <a:endParaRPr lang="en-US" sz="1600" b="0" i="0" dirty="0">
              <a:solidFill>
                <a:srgbClr val="05192D"/>
              </a:solidFill>
              <a:effectLst/>
              <a:latin typeface="Studio-Feixen-Sans"/>
            </a:endParaRPr>
          </a:p>
          <a:p>
            <a:pPr marL="285750" indent="-285750" algn="l">
              <a:buFont typeface="Arial" panose="020B0604020202020204" pitchFamily="34" charset="0"/>
              <a:buChar char="•"/>
            </a:pPr>
            <a:r>
              <a:rPr lang="en-US" sz="1600" b="0" i="0" dirty="0">
                <a:solidFill>
                  <a:srgbClr val="05192D"/>
                </a:solidFill>
                <a:effectLst/>
                <a:latin typeface="Studio-Feixen-Sans"/>
              </a:rPr>
              <a:t>Overall, the most purchased products by both male and female customers are "</a:t>
            </a:r>
            <a:r>
              <a:rPr lang="en-US" sz="1600" b="0" i="0" dirty="0" err="1">
                <a:solidFill>
                  <a:srgbClr val="05192D"/>
                </a:solidFill>
                <a:effectLst/>
                <a:latin typeface="Studio-Feixen-Sans"/>
              </a:rPr>
              <a:t>particular_account</a:t>
            </a:r>
            <a:r>
              <a:rPr lang="en-US" sz="1600" b="0" i="0" dirty="0">
                <a:solidFill>
                  <a:srgbClr val="05192D"/>
                </a:solidFill>
                <a:effectLst/>
                <a:latin typeface="Studio-Feixen-Sans"/>
              </a:rPr>
              <a:t>", "</a:t>
            </a:r>
            <a:r>
              <a:rPr lang="en-US" sz="1600" b="0" i="0" dirty="0" err="1">
                <a:solidFill>
                  <a:srgbClr val="05192D"/>
                </a:solidFill>
                <a:effectLst/>
                <a:latin typeface="Studio-Feixen-Sans"/>
              </a:rPr>
              <a:t>current_accounts</a:t>
            </a:r>
            <a:r>
              <a:rPr lang="en-US" sz="1600" b="0" i="0" dirty="0">
                <a:solidFill>
                  <a:srgbClr val="05192D"/>
                </a:solidFill>
                <a:effectLst/>
                <a:latin typeface="Studio-Feixen-Sans"/>
              </a:rPr>
              <a:t>", "</a:t>
            </a:r>
            <a:r>
              <a:rPr lang="en-US" sz="1600" b="0" i="0" dirty="0" err="1">
                <a:solidFill>
                  <a:srgbClr val="05192D"/>
                </a:solidFill>
                <a:effectLst/>
                <a:latin typeface="Studio-Feixen-Sans"/>
              </a:rPr>
              <a:t>e_account</a:t>
            </a:r>
            <a:r>
              <a:rPr lang="en-US" sz="1600" b="0" i="0" dirty="0">
                <a:solidFill>
                  <a:srgbClr val="05192D"/>
                </a:solidFill>
                <a:effectLst/>
                <a:latin typeface="Studio-Feixen-Sans"/>
              </a:rPr>
              <a:t>", and "</a:t>
            </a:r>
            <a:r>
              <a:rPr lang="en-US" sz="1600" b="0" i="0" dirty="0" err="1">
                <a:solidFill>
                  <a:srgbClr val="05192D"/>
                </a:solidFill>
                <a:effectLst/>
                <a:latin typeface="Studio-Feixen-Sans"/>
              </a:rPr>
              <a:t>direct_debit</a:t>
            </a:r>
            <a:r>
              <a:rPr lang="en-US" sz="1600" b="0" i="0" dirty="0">
                <a:solidFill>
                  <a:srgbClr val="05192D"/>
                </a:solidFill>
                <a:effectLst/>
                <a:latin typeface="Studio-Feixen-Sans"/>
              </a:rPr>
              <a:t>" products.</a:t>
            </a:r>
          </a:p>
        </p:txBody>
      </p:sp>
      <p:sp>
        <p:nvSpPr>
          <p:cNvPr id="17" name="Rectangle 16">
            <a:extLst>
              <a:ext uri="{FF2B5EF4-FFF2-40B4-BE49-F238E27FC236}">
                <a16:creationId xmlns:a16="http://schemas.microsoft.com/office/drawing/2014/main" id="{4EE2ADCB-2F26-A940-B4CA-11022847FAA2}"/>
              </a:ext>
            </a:extLst>
          </p:cNvPr>
          <p:cNvSpPr/>
          <p:nvPr/>
        </p:nvSpPr>
        <p:spPr>
          <a:xfrm>
            <a:off x="0" y="-318533"/>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2"/>
                </a:solidFill>
                <a:latin typeface="+mj-lt"/>
              </a:rPr>
              <a:t>      10. Distribution of products by Sex</a:t>
            </a:r>
          </a:p>
        </p:txBody>
      </p:sp>
    </p:spTree>
    <p:extLst>
      <p:ext uri="{BB962C8B-B14F-4D97-AF65-F5344CB8AC3E}">
        <p14:creationId xmlns:p14="http://schemas.microsoft.com/office/powerpoint/2010/main" val="4210441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03A29-70E7-6740-B711-AB9064F6BC49}"/>
              </a:ext>
            </a:extLst>
          </p:cNvPr>
          <p:cNvPicPr>
            <a:picLocks noChangeAspect="1"/>
          </p:cNvPicPr>
          <p:nvPr/>
        </p:nvPicPr>
        <p:blipFill>
          <a:blip r:embed="rId2"/>
          <a:srcRect/>
          <a:stretch/>
        </p:blipFill>
        <p:spPr>
          <a:xfrm>
            <a:off x="609600" y="1311712"/>
            <a:ext cx="7333767" cy="5186070"/>
          </a:xfrm>
          <a:prstGeom prst="rect">
            <a:avLst/>
          </a:prstGeom>
        </p:spPr>
      </p:pic>
      <p:sp>
        <p:nvSpPr>
          <p:cNvPr id="13" name="TextBox 12">
            <a:extLst>
              <a:ext uri="{FF2B5EF4-FFF2-40B4-BE49-F238E27FC236}">
                <a16:creationId xmlns:a16="http://schemas.microsoft.com/office/drawing/2014/main" id="{90930E44-842B-1C4A-8E15-743CEE6E3FD1}"/>
              </a:ext>
            </a:extLst>
          </p:cNvPr>
          <p:cNvSpPr txBox="1"/>
          <p:nvPr/>
        </p:nvSpPr>
        <p:spPr>
          <a:xfrm>
            <a:off x="8492837" y="1292652"/>
            <a:ext cx="3089564" cy="5016758"/>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solidFill>
                  <a:srgbClr val="05192D"/>
                </a:solidFill>
                <a:effectLst/>
                <a:latin typeface="Studio-Feixen-Sans"/>
              </a:rPr>
              <a:t> we can infer that the channels used by customers to join the bank are associated with the types of products they purchase. </a:t>
            </a:r>
          </a:p>
          <a:p>
            <a:pPr marL="285750" indent="-285750">
              <a:buFont typeface="Arial" panose="020B0604020202020204" pitchFamily="34" charset="0"/>
              <a:buChar char="•"/>
            </a:pPr>
            <a:endParaRPr lang="en-US" sz="1600" b="0" i="0" dirty="0">
              <a:solidFill>
                <a:srgbClr val="05192D"/>
              </a:solidFill>
              <a:effectLst/>
              <a:latin typeface="Studio-Feixen-Sans"/>
            </a:endParaRPr>
          </a:p>
          <a:p>
            <a:pPr marL="285750" indent="-285750">
              <a:buFont typeface="Arial" panose="020B0604020202020204" pitchFamily="34" charset="0"/>
              <a:buChar char="•"/>
            </a:pPr>
            <a:r>
              <a:rPr lang="en-US" sz="1600" b="0" i="0" dirty="0">
                <a:solidFill>
                  <a:srgbClr val="05192D"/>
                </a:solidFill>
                <a:effectLst/>
                <a:latin typeface="Studio-Feixen-Sans"/>
              </a:rPr>
              <a:t>Customers who joined through channels KHE, KAT, KFC, KFA, and KHQ tend to purchase more "</a:t>
            </a:r>
            <a:r>
              <a:rPr lang="en-US" sz="1600" b="0" i="0" dirty="0" err="1">
                <a:solidFill>
                  <a:srgbClr val="05192D"/>
                </a:solidFill>
                <a:effectLst/>
                <a:latin typeface="Studio-Feixen-Sans"/>
              </a:rPr>
              <a:t>particular_account</a:t>
            </a:r>
            <a:r>
              <a:rPr lang="en-US" sz="1600" b="0" i="0" dirty="0">
                <a:solidFill>
                  <a:srgbClr val="05192D"/>
                </a:solidFill>
                <a:effectLst/>
                <a:latin typeface="Studio-Feixen-Sans"/>
              </a:rPr>
              <a:t>", "</a:t>
            </a:r>
            <a:r>
              <a:rPr lang="en-US" sz="1600" b="0" i="0" dirty="0" err="1">
                <a:solidFill>
                  <a:srgbClr val="05192D"/>
                </a:solidFill>
                <a:effectLst/>
                <a:latin typeface="Studio-Feixen-Sans"/>
              </a:rPr>
              <a:t>current_accounts</a:t>
            </a:r>
            <a:r>
              <a:rPr lang="en-US" sz="1600" b="0" i="0" dirty="0">
                <a:solidFill>
                  <a:srgbClr val="05192D"/>
                </a:solidFill>
                <a:effectLst/>
                <a:latin typeface="Studio-Feixen-Sans"/>
              </a:rPr>
              <a:t>", "</a:t>
            </a:r>
            <a:r>
              <a:rPr lang="en-US" sz="1600" b="0" i="0" dirty="0" err="1">
                <a:solidFill>
                  <a:srgbClr val="05192D"/>
                </a:solidFill>
                <a:effectLst/>
                <a:latin typeface="Studio-Feixen-Sans"/>
              </a:rPr>
              <a:t>e_account</a:t>
            </a:r>
            <a:r>
              <a:rPr lang="en-US" sz="1600" b="0" i="0" dirty="0">
                <a:solidFill>
                  <a:srgbClr val="05192D"/>
                </a:solidFill>
                <a:effectLst/>
                <a:latin typeface="Studio-Feixen-Sans"/>
              </a:rPr>
              <a:t>", and "</a:t>
            </a:r>
            <a:r>
              <a:rPr lang="en-US" sz="1600" b="0" i="0" dirty="0" err="1">
                <a:solidFill>
                  <a:srgbClr val="05192D"/>
                </a:solidFill>
                <a:effectLst/>
                <a:latin typeface="Studio-Feixen-Sans"/>
              </a:rPr>
              <a:t>direct_debit</a:t>
            </a:r>
            <a:r>
              <a:rPr lang="en-US" sz="1600" b="0" i="0" dirty="0">
                <a:solidFill>
                  <a:srgbClr val="05192D"/>
                </a:solidFill>
                <a:effectLst/>
                <a:latin typeface="Studio-Feixen-Sans"/>
              </a:rPr>
              <a:t>" products compared to other products.</a:t>
            </a:r>
          </a:p>
          <a:p>
            <a:pPr marL="285750" indent="-285750">
              <a:buFont typeface="Arial" panose="020B0604020202020204" pitchFamily="34" charset="0"/>
              <a:buChar char="•"/>
            </a:pPr>
            <a:endParaRPr lang="en-US" sz="1600" b="0" i="0" dirty="0">
              <a:solidFill>
                <a:srgbClr val="05192D"/>
              </a:solidFill>
              <a:effectLst/>
              <a:latin typeface="Studio-Feixen-Sans"/>
            </a:endParaRPr>
          </a:p>
          <a:p>
            <a:pPr marL="285750" indent="-285750">
              <a:buFont typeface="Arial" panose="020B0604020202020204" pitchFamily="34" charset="0"/>
              <a:buChar char="•"/>
            </a:pPr>
            <a:r>
              <a:rPr lang="en-US" sz="1600" b="0" i="0" dirty="0">
                <a:solidFill>
                  <a:srgbClr val="05192D"/>
                </a:solidFill>
                <a:effectLst/>
                <a:latin typeface="Studio-Feixen-Sans"/>
              </a:rPr>
              <a:t> This information can be useful for the bank to target specific products to customers based on the channels they used to join.</a:t>
            </a:r>
            <a:endParaRPr lang="en-US" sz="1600" dirty="0"/>
          </a:p>
        </p:txBody>
      </p:sp>
      <p:sp>
        <p:nvSpPr>
          <p:cNvPr id="17" name="Rectangle 16">
            <a:extLst>
              <a:ext uri="{FF2B5EF4-FFF2-40B4-BE49-F238E27FC236}">
                <a16:creationId xmlns:a16="http://schemas.microsoft.com/office/drawing/2014/main" id="{4EE2ADCB-2F26-A940-B4CA-11022847FAA2}"/>
              </a:ext>
            </a:extLst>
          </p:cNvPr>
          <p:cNvSpPr/>
          <p:nvPr/>
        </p:nvSpPr>
        <p:spPr>
          <a:xfrm>
            <a:off x="0" y="-318533"/>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2"/>
                </a:solidFill>
                <a:latin typeface="+mj-lt"/>
              </a:rPr>
              <a:t>      11. Distribution of products by channel join</a:t>
            </a:r>
          </a:p>
        </p:txBody>
      </p:sp>
    </p:spTree>
    <p:extLst>
      <p:ext uri="{BB962C8B-B14F-4D97-AF65-F5344CB8AC3E}">
        <p14:creationId xmlns:p14="http://schemas.microsoft.com/office/powerpoint/2010/main" val="3374684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03A29-70E7-6740-B711-AB9064F6BC49}"/>
              </a:ext>
            </a:extLst>
          </p:cNvPr>
          <p:cNvPicPr>
            <a:picLocks noChangeAspect="1"/>
          </p:cNvPicPr>
          <p:nvPr/>
        </p:nvPicPr>
        <p:blipFill>
          <a:blip r:embed="rId2"/>
          <a:srcRect/>
          <a:stretch/>
        </p:blipFill>
        <p:spPr>
          <a:xfrm>
            <a:off x="332509" y="1311712"/>
            <a:ext cx="7610858" cy="4985527"/>
          </a:xfrm>
          <a:prstGeom prst="rect">
            <a:avLst/>
          </a:prstGeom>
        </p:spPr>
      </p:pic>
      <p:sp>
        <p:nvSpPr>
          <p:cNvPr id="13" name="TextBox 12">
            <a:extLst>
              <a:ext uri="{FF2B5EF4-FFF2-40B4-BE49-F238E27FC236}">
                <a16:creationId xmlns:a16="http://schemas.microsoft.com/office/drawing/2014/main" id="{90930E44-842B-1C4A-8E15-743CEE6E3FD1}"/>
              </a:ext>
            </a:extLst>
          </p:cNvPr>
          <p:cNvSpPr txBox="1"/>
          <p:nvPr/>
        </p:nvSpPr>
        <p:spPr>
          <a:xfrm>
            <a:off x="8312727" y="1421813"/>
            <a:ext cx="3388387" cy="4031873"/>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solidFill>
                  <a:srgbClr val="05192D"/>
                </a:solidFill>
                <a:effectLst/>
                <a:latin typeface="Studio-Feixen-Sans"/>
              </a:rPr>
              <a:t>From the visualization above, we can infer that the total number of products purchased by customers is positively correlated with their seniority group.</a:t>
            </a:r>
          </a:p>
          <a:p>
            <a:pPr marL="285750" indent="-285750">
              <a:buFont typeface="Arial" panose="020B0604020202020204" pitchFamily="34" charset="0"/>
              <a:buChar char="•"/>
            </a:pPr>
            <a:endParaRPr lang="en-US" sz="1600" b="0" i="0" dirty="0">
              <a:solidFill>
                <a:srgbClr val="05192D"/>
              </a:solidFill>
              <a:effectLst/>
              <a:latin typeface="Studio-Feixen-Sans"/>
            </a:endParaRPr>
          </a:p>
          <a:p>
            <a:pPr marL="285750" indent="-285750">
              <a:buFont typeface="Arial" panose="020B0604020202020204" pitchFamily="34" charset="0"/>
              <a:buChar char="•"/>
            </a:pPr>
            <a:r>
              <a:rPr lang="en-US" sz="1600" b="0" i="0" dirty="0">
                <a:solidFill>
                  <a:srgbClr val="05192D"/>
                </a:solidFill>
                <a:effectLst/>
                <a:latin typeface="Studio-Feixen-Sans"/>
              </a:rPr>
              <a:t> Customers who have been with the bank for a longer period tend to purchase more products compared to those who have been with the bank for a shorter period.</a:t>
            </a:r>
          </a:p>
          <a:p>
            <a:pPr marL="285750" indent="-285750">
              <a:buFont typeface="Arial" panose="020B0604020202020204" pitchFamily="34" charset="0"/>
              <a:buChar char="•"/>
            </a:pPr>
            <a:endParaRPr lang="en-US" sz="1600" b="0" i="0" dirty="0">
              <a:solidFill>
                <a:srgbClr val="05192D"/>
              </a:solidFill>
              <a:effectLst/>
              <a:latin typeface="Studio-Feixen-Sans"/>
            </a:endParaRPr>
          </a:p>
          <a:p>
            <a:pPr marL="285750" indent="-285750">
              <a:buFont typeface="Arial" panose="020B0604020202020204" pitchFamily="34" charset="0"/>
              <a:buChar char="•"/>
            </a:pPr>
            <a:r>
              <a:rPr lang="en-US" sz="1600" b="0" i="0" dirty="0">
                <a:solidFill>
                  <a:srgbClr val="05192D"/>
                </a:solidFill>
                <a:effectLst/>
                <a:latin typeface="Studio-Feixen-Sans"/>
              </a:rPr>
              <a:t> This information can be useful for the bank to target specific products to customers based on their seniority group.</a:t>
            </a:r>
            <a:endParaRPr lang="en-US" sz="1600" dirty="0"/>
          </a:p>
        </p:txBody>
      </p:sp>
      <p:sp>
        <p:nvSpPr>
          <p:cNvPr id="15" name="Rectangle 14">
            <a:extLst>
              <a:ext uri="{FF2B5EF4-FFF2-40B4-BE49-F238E27FC236}">
                <a16:creationId xmlns:a16="http://schemas.microsoft.com/office/drawing/2014/main" id="{A86FFC35-F427-364C-BA92-634BB6B2B5AC}"/>
              </a:ext>
            </a:extLst>
          </p:cNvPr>
          <p:cNvSpPr/>
          <p:nvPr/>
        </p:nvSpPr>
        <p:spPr>
          <a:xfrm>
            <a:off x="4903852" y="5927907"/>
            <a:ext cx="4625008"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EE2ADCB-2F26-A940-B4CA-11022847FAA2}"/>
              </a:ext>
            </a:extLst>
          </p:cNvPr>
          <p:cNvSpPr/>
          <p:nvPr/>
        </p:nvSpPr>
        <p:spPr>
          <a:xfrm>
            <a:off x="0" y="-318533"/>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2"/>
                </a:solidFill>
                <a:latin typeface="+mj-lt"/>
              </a:rPr>
              <a:t>      12. Distribution of products by seniority group</a:t>
            </a:r>
          </a:p>
        </p:txBody>
      </p:sp>
    </p:spTree>
    <p:extLst>
      <p:ext uri="{BB962C8B-B14F-4D97-AF65-F5344CB8AC3E}">
        <p14:creationId xmlns:p14="http://schemas.microsoft.com/office/powerpoint/2010/main" val="903987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087AA53-A2BE-554B-AAE4-C6D527006499}"/>
              </a:ext>
            </a:extLst>
          </p:cNvPr>
          <p:cNvSpPr txBox="1"/>
          <p:nvPr/>
        </p:nvSpPr>
        <p:spPr>
          <a:xfrm>
            <a:off x="329045" y="1011587"/>
            <a:ext cx="11533909" cy="5755422"/>
          </a:xfrm>
          <a:prstGeom prst="rect">
            <a:avLst/>
          </a:prstGeom>
          <a:noFill/>
        </p:spPr>
        <p:txBody>
          <a:bodyPr wrap="square" rtlCol="0">
            <a:spAutoFit/>
          </a:bodyPr>
          <a:lstStyle/>
          <a:p>
            <a:r>
              <a:rPr lang="en-US" sz="1600" b="0" i="0" dirty="0">
                <a:solidFill>
                  <a:srgbClr val="05192D"/>
                </a:solidFill>
                <a:effectLst/>
                <a:latin typeface="Studio-Feixen-Sans"/>
              </a:rPr>
              <a:t>Based on the exploratory data analysis section above, the following recommendations can be made to increase cross-selling of the banking products:</a:t>
            </a:r>
          </a:p>
          <a:p>
            <a:pPr marL="342900" indent="-342900">
              <a:buAutoNum type="arabicPeriod"/>
            </a:pPr>
            <a:r>
              <a:rPr lang="en-US" sz="1600" b="1" i="0" dirty="0">
                <a:solidFill>
                  <a:srgbClr val="05192D"/>
                </a:solidFill>
                <a:effectLst/>
                <a:latin typeface="Studio-Feixen-Sans"/>
              </a:rPr>
              <a:t>Target specific products to customers based on their seniority group. </a:t>
            </a:r>
            <a:r>
              <a:rPr lang="en-US" sz="1600" b="0" i="0" dirty="0">
                <a:solidFill>
                  <a:srgbClr val="05192D"/>
                </a:solidFill>
                <a:effectLst/>
                <a:latin typeface="Studio-Feixen-Sans"/>
              </a:rPr>
              <a:t>Customers who have been with the bank for a longer period tend to purchase more products compared to those who have been with the bank for a shorter period. Therefore, the bank can target lower seniority groups with specific products that are likely to be of interest to them.</a:t>
            </a:r>
          </a:p>
          <a:p>
            <a:pPr marL="342900" indent="-342900">
              <a:buFontTx/>
              <a:buAutoNum type="arabicPeriod"/>
            </a:pPr>
            <a:r>
              <a:rPr lang="en-US" sz="1600" b="1" i="0" dirty="0">
                <a:solidFill>
                  <a:srgbClr val="05192D"/>
                </a:solidFill>
                <a:effectLst/>
                <a:latin typeface="Studio-Feixen-Sans"/>
              </a:rPr>
              <a:t>Offer incentives or discounts to customers who purchase multiple products. </a:t>
            </a:r>
            <a:r>
              <a:rPr lang="en-US" sz="1600" b="0" i="0" dirty="0">
                <a:solidFill>
                  <a:srgbClr val="05192D"/>
                </a:solidFill>
                <a:effectLst/>
                <a:latin typeface="Studio-Feixen-Sans"/>
              </a:rPr>
              <a:t>This can encourage customers to purchase more products and increase cross-selling. Based on analysis above customers who have purchased one product are more likely to purchase another product. Therefore, offering incentives or discounts to customers who purchase multiple products can increase the likelihood of cross-selling.</a:t>
            </a:r>
          </a:p>
          <a:p>
            <a:pPr marL="342900" indent="-342900">
              <a:buFontTx/>
              <a:buAutoNum type="arabicPeriod"/>
            </a:pPr>
            <a:r>
              <a:rPr lang="en-US" sz="1600" b="1" i="0" dirty="0">
                <a:solidFill>
                  <a:srgbClr val="05192D"/>
                </a:solidFill>
                <a:effectLst/>
                <a:latin typeface="Studio-Feixen-Sans"/>
              </a:rPr>
              <a:t>Analyze the products that are frequently purchased together and create bundled packages to offer to customers. </a:t>
            </a:r>
            <a:r>
              <a:rPr lang="en-US" sz="1600" b="0" i="0" dirty="0">
                <a:solidFill>
                  <a:srgbClr val="05192D"/>
                </a:solidFill>
                <a:effectLst/>
                <a:latin typeface="Studio-Feixen-Sans"/>
              </a:rPr>
              <a:t>This can increase the likelihood of customers purchasing multiple products. For example, based on the analysis above, customers who have a savings account are more likely to have a mortgage and a pension plan. Therefore, the bank can create bundled packages that include these products to encourage customers to purchase multiple products.</a:t>
            </a:r>
          </a:p>
          <a:p>
            <a:pPr marL="342900" indent="-342900">
              <a:buFontTx/>
              <a:buAutoNum type="arabicPeriod"/>
            </a:pPr>
            <a:r>
              <a:rPr lang="en-US" sz="1600" b="1" i="0" dirty="0">
                <a:solidFill>
                  <a:srgbClr val="05192D"/>
                </a:solidFill>
                <a:effectLst/>
                <a:latin typeface="Studio-Feixen-Sans"/>
              </a:rPr>
              <a:t>Provide personalized recommendations to customers based on their transaction history and purchase behavior. </a:t>
            </a:r>
            <a:r>
              <a:rPr lang="en-US" sz="1600" b="0" i="0" dirty="0">
                <a:solidFill>
                  <a:srgbClr val="05192D"/>
                </a:solidFill>
                <a:effectLst/>
                <a:latin typeface="Studio-Feixen-Sans"/>
              </a:rPr>
              <a:t>This can increase the relevance of the recommendations and encourage customers to purchase more products. Based on the analysis above, customers who have a salary account are more likely to have a credit card and a direct debit. Therefore, the bank can provide personalized recommendations to customers who have a salary account based on their transaction history and purchase behavior to encourage them to purchase a credit card and a direct debit.</a:t>
            </a:r>
          </a:p>
          <a:p>
            <a:pPr marL="342900" indent="-342900">
              <a:buFontTx/>
              <a:buAutoNum type="arabicPeriod"/>
            </a:pPr>
            <a:r>
              <a:rPr lang="en-US" sz="1600" b="1" i="0" dirty="0">
                <a:solidFill>
                  <a:srgbClr val="05192D"/>
                </a:solidFill>
                <a:effectLst/>
                <a:latin typeface="Studio-Feixen-Sans"/>
              </a:rPr>
              <a:t>Conduct targeted marketing campaigns to promote specific products to customers who have not yet purchased them. </a:t>
            </a:r>
            <a:r>
              <a:rPr lang="en-US" sz="1600" b="0" i="0" dirty="0">
                <a:solidFill>
                  <a:srgbClr val="05192D"/>
                </a:solidFill>
                <a:effectLst/>
                <a:latin typeface="Studio-Feixen-Sans"/>
              </a:rPr>
              <a:t>This can increase awareness of the products and encourage customers to try them out. The EDA analysis shows that there are some products that have low purchase rates, such as securities and funds. Therefore, the bank can conduct targeted marketing campaigns to promote these products to customers who have not yet purchased them.</a:t>
            </a:r>
            <a:endParaRPr lang="en-US" sz="1600" b="1" i="0" dirty="0">
              <a:solidFill>
                <a:srgbClr val="05192D"/>
              </a:solidFill>
              <a:effectLst/>
              <a:latin typeface="Studio-Feixen-Sans"/>
            </a:endParaRPr>
          </a:p>
          <a:p>
            <a:endParaRPr lang="en-US" sz="1600" b="1" i="0" dirty="0">
              <a:solidFill>
                <a:srgbClr val="05192D"/>
              </a:solidFill>
              <a:effectLst/>
              <a:latin typeface="Studio-Feixen-Sans"/>
            </a:endParaRPr>
          </a:p>
        </p:txBody>
      </p:sp>
      <p:sp>
        <p:nvSpPr>
          <p:cNvPr id="4" name="Rectangle 3">
            <a:extLst>
              <a:ext uri="{FF2B5EF4-FFF2-40B4-BE49-F238E27FC236}">
                <a16:creationId xmlns:a16="http://schemas.microsoft.com/office/drawing/2014/main" id="{B2BD046D-D4D3-5C48-9D68-AE42423390A9}"/>
              </a:ext>
            </a:extLst>
          </p:cNvPr>
          <p:cNvSpPr/>
          <p:nvPr/>
        </p:nvSpPr>
        <p:spPr>
          <a:xfrm>
            <a:off x="0" y="0"/>
            <a:ext cx="12192000" cy="969818"/>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a:solidFill>
                  <a:schemeClr val="accent2"/>
                </a:solidFill>
                <a:latin typeface="+mj-lt"/>
              </a:rPr>
              <a:t>      Final Recommendations</a:t>
            </a:r>
          </a:p>
        </p:txBody>
      </p:sp>
    </p:spTree>
    <p:extLst>
      <p:ext uri="{BB962C8B-B14F-4D97-AF65-F5344CB8AC3E}">
        <p14:creationId xmlns:p14="http://schemas.microsoft.com/office/powerpoint/2010/main" val="3544474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087AA53-A2BE-554B-AAE4-C6D527006499}"/>
              </a:ext>
            </a:extLst>
          </p:cNvPr>
          <p:cNvSpPr txBox="1"/>
          <p:nvPr/>
        </p:nvSpPr>
        <p:spPr>
          <a:xfrm>
            <a:off x="762000" y="1595021"/>
            <a:ext cx="11430000" cy="3785652"/>
          </a:xfrm>
          <a:prstGeom prst="rect">
            <a:avLst/>
          </a:prstGeom>
          <a:noFill/>
        </p:spPr>
        <p:txBody>
          <a:bodyPr wrap="square" rtlCol="0">
            <a:spAutoFit/>
          </a:bodyPr>
          <a:lstStyle/>
          <a:p>
            <a:pPr algn="l"/>
            <a:r>
              <a:rPr lang="en-US" sz="1600" b="0" i="0" dirty="0">
                <a:solidFill>
                  <a:srgbClr val="05192D"/>
                </a:solidFill>
                <a:effectLst/>
                <a:latin typeface="Studio-Feixen-Sans"/>
              </a:rPr>
              <a:t>Based on the dataset above, the following machine-learning models are recommended to increase cross-selling of banking products:</a:t>
            </a:r>
          </a:p>
          <a:p>
            <a:pPr algn="l"/>
            <a:endParaRPr lang="en-US" sz="1600" b="0" i="0" dirty="0">
              <a:solidFill>
                <a:srgbClr val="05192D"/>
              </a:solidFill>
              <a:effectLst/>
              <a:latin typeface="Studio-Feixen-Sans"/>
            </a:endParaRPr>
          </a:p>
          <a:p>
            <a:pPr algn="l">
              <a:buFont typeface="+mj-lt"/>
              <a:buAutoNum type="arabicPeriod"/>
            </a:pPr>
            <a:r>
              <a:rPr lang="en-US" sz="1600" b="1" i="0" dirty="0">
                <a:solidFill>
                  <a:srgbClr val="05192D"/>
                </a:solidFill>
                <a:effectLst/>
                <a:latin typeface="Studio-Feixen-Sans"/>
              </a:rPr>
              <a:t>Logistic Regression </a:t>
            </a:r>
            <a:r>
              <a:rPr lang="en-US" sz="1600" b="0" i="0" dirty="0">
                <a:solidFill>
                  <a:srgbClr val="05192D"/>
                </a:solidFill>
                <a:effectLst/>
                <a:latin typeface="Studio-Feixen-Sans"/>
              </a:rPr>
              <a:t>- This model is useful for predicting binary outcomes, such as whether a customer will purchase a banking product or not. It can also provide insights into which variables are most important in predicting the outcome.</a:t>
            </a:r>
          </a:p>
          <a:p>
            <a:pPr algn="l">
              <a:buFont typeface="+mj-lt"/>
              <a:buAutoNum type="arabicPeriod"/>
            </a:pPr>
            <a:endParaRPr lang="en-US" sz="1600" b="0" i="0" dirty="0">
              <a:solidFill>
                <a:srgbClr val="05192D"/>
              </a:solidFill>
              <a:effectLst/>
              <a:latin typeface="Studio-Feixen-Sans"/>
            </a:endParaRPr>
          </a:p>
          <a:p>
            <a:pPr algn="l">
              <a:buFont typeface="+mj-lt"/>
              <a:buAutoNum type="arabicPeriod"/>
            </a:pPr>
            <a:r>
              <a:rPr lang="en-US" sz="1600" b="1" i="0" dirty="0">
                <a:solidFill>
                  <a:srgbClr val="05192D"/>
                </a:solidFill>
                <a:effectLst/>
                <a:latin typeface="Studio-Feixen-Sans"/>
              </a:rPr>
              <a:t>Random Forest </a:t>
            </a:r>
            <a:r>
              <a:rPr lang="en-US" sz="1600" b="0" i="0" dirty="0">
                <a:solidFill>
                  <a:srgbClr val="05192D"/>
                </a:solidFill>
                <a:effectLst/>
                <a:latin typeface="Studio-Feixen-Sans"/>
              </a:rPr>
              <a:t>- This model is useful for predicting multiple outcomes and can handle both categorical and continuous variables. It can also provide insights into which variables are most important in predicting the outcome.</a:t>
            </a:r>
          </a:p>
          <a:p>
            <a:pPr algn="l">
              <a:buFont typeface="+mj-lt"/>
              <a:buAutoNum type="arabicPeriod"/>
            </a:pPr>
            <a:endParaRPr lang="en-US" sz="1600" b="0" i="0" dirty="0">
              <a:solidFill>
                <a:srgbClr val="05192D"/>
              </a:solidFill>
              <a:effectLst/>
              <a:latin typeface="Studio-Feixen-Sans"/>
            </a:endParaRPr>
          </a:p>
          <a:p>
            <a:pPr algn="l">
              <a:buFont typeface="+mj-lt"/>
              <a:buAutoNum type="arabicPeriod"/>
            </a:pPr>
            <a:r>
              <a:rPr lang="en-US" sz="1600" b="1" i="0" dirty="0">
                <a:solidFill>
                  <a:srgbClr val="05192D"/>
                </a:solidFill>
                <a:effectLst/>
                <a:latin typeface="Studio-Feixen-Sans"/>
              </a:rPr>
              <a:t>Gradient Boosting </a:t>
            </a:r>
            <a:r>
              <a:rPr lang="en-US" sz="1600" b="0" i="0" dirty="0">
                <a:solidFill>
                  <a:srgbClr val="05192D"/>
                </a:solidFill>
                <a:effectLst/>
                <a:latin typeface="Studio-Feixen-Sans"/>
              </a:rPr>
              <a:t>- This model is useful for predicting multiple outcomes and can handle both categorical and continuous variables. It can also provide insights into which variables are most important in predicting the outcome.</a:t>
            </a:r>
          </a:p>
          <a:p>
            <a:pPr algn="l">
              <a:buFont typeface="+mj-lt"/>
              <a:buAutoNum type="arabicPeriod"/>
            </a:pPr>
            <a:endParaRPr lang="en-US" sz="1600" b="0" i="0" dirty="0">
              <a:solidFill>
                <a:srgbClr val="05192D"/>
              </a:solidFill>
              <a:effectLst/>
              <a:latin typeface="Studio-Feixen-Sans"/>
            </a:endParaRPr>
          </a:p>
          <a:p>
            <a:pPr algn="l"/>
            <a:r>
              <a:rPr lang="en-US" sz="1600" b="0" i="0" dirty="0">
                <a:solidFill>
                  <a:srgbClr val="05192D"/>
                </a:solidFill>
                <a:effectLst/>
                <a:latin typeface="Studio-Feixen-Sans"/>
              </a:rPr>
              <a:t>The basis for selecting these models is their ability to handle both categorical and continuous variables, provide insights into variable importance, and handle multiple outcomes. Additionally, these models have been shown to perform well in similar banking industry applications.</a:t>
            </a:r>
          </a:p>
          <a:p>
            <a:endParaRPr lang="en-US" sz="1600" dirty="0"/>
          </a:p>
        </p:txBody>
      </p:sp>
      <p:sp>
        <p:nvSpPr>
          <p:cNvPr id="4" name="Rectangle 3">
            <a:extLst>
              <a:ext uri="{FF2B5EF4-FFF2-40B4-BE49-F238E27FC236}">
                <a16:creationId xmlns:a16="http://schemas.microsoft.com/office/drawing/2014/main" id="{B2BD046D-D4D3-5C48-9D68-AE42423390A9}"/>
              </a:ext>
            </a:extLst>
          </p:cNvPr>
          <p:cNvSpPr/>
          <p:nvPr/>
        </p:nvSpPr>
        <p:spPr>
          <a:xfrm>
            <a:off x="0" y="0"/>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a:solidFill>
                  <a:schemeClr val="accent2"/>
                </a:solidFill>
                <a:latin typeface="+mj-lt"/>
              </a:rPr>
              <a:t>     ML Model Recommendations</a:t>
            </a:r>
          </a:p>
        </p:txBody>
      </p:sp>
    </p:spTree>
    <p:extLst>
      <p:ext uri="{BB962C8B-B14F-4D97-AF65-F5344CB8AC3E}">
        <p14:creationId xmlns:p14="http://schemas.microsoft.com/office/powerpoint/2010/main" val="515472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2D4BA697-580E-5544-8F2F-194AD99B859F}"/>
              </a:ext>
            </a:extLst>
          </p:cNvPr>
          <p:cNvSpPr>
            <a:spLocks noGrp="1"/>
          </p:cNvSpPr>
          <p:nvPr>
            <p:ph type="subTitle" idx="1"/>
          </p:nvPr>
        </p:nvSpPr>
        <p:spPr>
          <a:xfrm>
            <a:off x="5872480" y="2601119"/>
            <a:ext cx="5558973" cy="1655762"/>
          </a:xfrm>
        </p:spPr>
        <p:txBody>
          <a:bodyPr>
            <a:normAutofit/>
          </a:bodyPr>
          <a:lstStyle/>
          <a:p>
            <a:r>
              <a:rPr lang="en-US" sz="6600" dirty="0">
                <a:solidFill>
                  <a:srgbClr val="FF6600"/>
                </a:solidFill>
              </a:rPr>
              <a:t>Thank You</a:t>
            </a:r>
          </a:p>
          <a:p>
            <a:endParaRPr lang="en-US" sz="6600" dirty="0">
              <a:solidFill>
                <a:srgbClr val="FF6600"/>
              </a:solidFill>
            </a:endParaRPr>
          </a:p>
        </p:txBody>
      </p:sp>
      <p:sp>
        <p:nvSpPr>
          <p:cNvPr id="3" name="Rectangle 2">
            <a:extLst>
              <a:ext uri="{FF2B5EF4-FFF2-40B4-BE49-F238E27FC236}">
                <a16:creationId xmlns:a16="http://schemas.microsoft.com/office/drawing/2014/main" id="{49C08CB0-2E68-164C-9080-887E2D20B522}"/>
              </a:ext>
            </a:extLst>
          </p:cNvPr>
          <p:cNvSpPr/>
          <p:nvPr/>
        </p:nvSpPr>
        <p:spPr>
          <a:xfrm>
            <a:off x="0" y="0"/>
            <a:ext cx="5872480" cy="68580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067532E-7508-4245-8E91-38CA363A61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818" y="6109624"/>
            <a:ext cx="1654627" cy="994232"/>
          </a:xfrm>
          <a:prstGeom prst="rect">
            <a:avLst/>
          </a:prstGeom>
        </p:spPr>
      </p:pic>
    </p:spTree>
    <p:extLst>
      <p:ext uri="{BB962C8B-B14F-4D97-AF65-F5344CB8AC3E}">
        <p14:creationId xmlns:p14="http://schemas.microsoft.com/office/powerpoint/2010/main" val="1067902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2894</TotalTime>
  <Words>1791</Words>
  <Application>Microsoft Office PowerPoint</Application>
  <PresentationFormat>Widescreen</PresentationFormat>
  <Paragraphs>91</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Studio-Feixen-Sans</vt:lpstr>
      <vt:lpstr>Office Theme</vt:lpstr>
      <vt:lpstr>PowerPoint Presentation</vt:lpstr>
      <vt:lpstr>Team Member’s Details</vt:lpstr>
      <vt:lpstr>PROBLEM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Case Study</dc:title>
  <dc:creator>surya prakash tripathi</dc:creator>
  <cp:lastModifiedBy>Administrator</cp:lastModifiedBy>
  <cp:revision>152</cp:revision>
  <cp:lastPrinted>2019-08-24T08:13:50Z</cp:lastPrinted>
  <dcterms:created xsi:type="dcterms:W3CDTF">2019-08-19T15:39:24Z</dcterms:created>
  <dcterms:modified xsi:type="dcterms:W3CDTF">2023-05-16T00:23:14Z</dcterms:modified>
</cp:coreProperties>
</file>